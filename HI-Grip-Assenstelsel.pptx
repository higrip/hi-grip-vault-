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656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Assenstelsel op basis van de experimentkaart (pagina 38). x-as: bewijskracht, y-as: kosten. Score 3 ligt op 0, elk scorepunt is 2 eenheden. Rechtsonder staan de snelle winsten: sterk bewijs tegen lage kosten. Punten op een as (score 3) vallen tussen twee kwadranten. De scores zijn een eerste inschatting en nog te bevestigen.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09194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5D5F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">
    <p:bg>
      <p:bgPr>
        <a:solidFill>
          <a:srgbClr val="CC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09194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kern="0" spc="-10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WAAR BEGINNEN WE?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493008" y="3904488"/>
            <a:ext cx="2578608" cy="2578608"/>
          </a:xfrm>
          <a:prstGeom prst="rect">
            <a:avLst/>
          </a:prstGeom>
          <a:solidFill>
            <a:srgbClr val="CCFF0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25880"/>
            <a:ext cx="0" cy="5157216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25880"/>
            <a:ext cx="5157216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1325880"/>
            <a:ext cx="0" cy="5157216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55648"/>
            <a:ext cx="5157216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73936" y="1325880"/>
            <a:ext cx="0" cy="5157216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185416"/>
            <a:ext cx="5157216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03704" y="1325880"/>
            <a:ext cx="0" cy="5157216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615184"/>
            <a:ext cx="5157216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33472" y="1325880"/>
            <a:ext cx="0" cy="5157216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044952"/>
            <a:ext cx="5157216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1325880"/>
            <a:ext cx="0" cy="5157216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474720"/>
            <a:ext cx="5157216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93008" y="1325880"/>
            <a:ext cx="0" cy="5157216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904488"/>
            <a:ext cx="5157216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22776" y="1325880"/>
            <a:ext cx="0" cy="5157216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334256"/>
            <a:ext cx="5157216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52544" y="1325880"/>
            <a:ext cx="0" cy="5157216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764024"/>
            <a:ext cx="5157216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82312" y="1325880"/>
            <a:ext cx="0" cy="5157216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193792"/>
            <a:ext cx="5157216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1325880"/>
            <a:ext cx="0" cy="5157216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623560"/>
            <a:ext cx="5157216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41848" y="1325880"/>
            <a:ext cx="0" cy="5157216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6053328"/>
            <a:ext cx="5157216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71616" y="1325880"/>
            <a:ext cx="0" cy="5157216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6483096"/>
            <a:ext cx="5157216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3904488"/>
            <a:ext cx="5522976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493008" y="1143000"/>
            <a:ext cx="0" cy="5522976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4400" y="3858768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47288" y="6483096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3977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-6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3108960" y="639165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44168" y="3858768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47288" y="6053328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161288" y="3977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73936" y="3858768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47288" y="5623560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591056" y="3977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03704" y="3858768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47288" y="5193792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020824" y="3977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633472" y="3858768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47288" y="4764024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450592" y="3977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063240" y="3858768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47288" y="4334256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880360" y="3977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22776" y="3858768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47288" y="3474720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739896" y="3977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3108960" y="338328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352544" y="3858768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47288" y="3044952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169664" y="3977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3108960" y="295351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82312" y="3858768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47288" y="2615184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599432" y="3977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3108960" y="252374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212080" y="3858768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47288" y="2185416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108960" y="209397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4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641848" y="3858768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447288" y="1755648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458968" y="3977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3108960" y="16642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071616" y="3858768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447288" y="1325880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888736" y="3977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6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3108960" y="123444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6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6345936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D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x-as</a:t>
            </a:r>
            <a:endParaRPr lang="en-US" sz="1200" dirty="0"/>
          </a:p>
          <a:p>
            <a:pPr marL="0" indent="0">
              <a:buNone/>
            </a:pPr>
            <a:r>
              <a:rPr lang="en-US" sz="1200" kern="0" spc="20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BEWIJSKRACHT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3675888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D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y-as  </a:t>
            </a:r>
            <a:r>
              <a:rPr lang="en-US" sz="1200" kern="0" spc="20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KOSTEN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987552" y="1399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VERMIJDEN</a:t>
            </a:r>
            <a:endParaRPr lang="en-US" sz="10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C5D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zwak bewijs, hoge kosten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3803904" y="1399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GROTE INZET</a:t>
            </a:r>
            <a:endParaRPr lang="en-US" sz="10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5C5D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sterk bewijs, hoge kosten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987552" y="59984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VERKENNEN</a:t>
            </a:r>
            <a:endParaRPr lang="en-US" sz="10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C5D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zwak bewijs, lage kosten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3803904" y="59984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SNELLE WINST</a:t>
            </a:r>
            <a:endParaRPr lang="en-US" sz="10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5C5D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sterk bewijs, lage kosten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005072" y="4434840"/>
            <a:ext cx="310896" cy="310896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005072" y="443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D1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389120" y="4434840"/>
            <a:ext cx="310896" cy="310896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389120" y="443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D2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197096" y="478231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197096" y="4782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V4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3337560" y="3749040"/>
            <a:ext cx="310896" cy="310896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333756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D3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56632" y="5468112"/>
            <a:ext cx="310896" cy="310896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056632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D4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337560" y="4434840"/>
            <a:ext cx="310896" cy="310896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3337560" y="443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D5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337560" y="4782312"/>
            <a:ext cx="310896" cy="310896"/>
          </a:xfrm>
          <a:prstGeom prst="ellipse">
            <a:avLst/>
          </a:prstGeom>
          <a:solidFill>
            <a:srgbClr val="CCFF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337560" y="4782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F2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5056632" y="3749040"/>
            <a:ext cx="310896" cy="310896"/>
          </a:xfrm>
          <a:prstGeom prst="ellipse">
            <a:avLst/>
          </a:prstGeom>
          <a:solidFill>
            <a:srgbClr val="CCFF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056632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F1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005072" y="5468112"/>
            <a:ext cx="310896" cy="310896"/>
          </a:xfrm>
          <a:prstGeom prst="ellipse">
            <a:avLst/>
          </a:prstGeom>
          <a:solidFill>
            <a:srgbClr val="CCFF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4005072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F3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389120" y="546811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4389120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V2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5056632" y="2889504"/>
            <a:ext cx="310896" cy="310896"/>
          </a:xfrm>
          <a:prstGeom prst="ellipse">
            <a:avLst/>
          </a:prstGeom>
          <a:solidFill>
            <a:srgbClr val="CCFF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5056632" y="2889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F4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3337560" y="5120640"/>
            <a:ext cx="310896" cy="310896"/>
          </a:xfrm>
          <a:prstGeom prst="ellipse">
            <a:avLst/>
          </a:prstGeom>
          <a:solidFill>
            <a:srgbClr val="CCFF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3337560" y="5120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F5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337560" y="546811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3337560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V1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3337560" y="581558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3337560" y="5815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V5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5056632" y="460857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5056632" y="4608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V3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8001000" y="1417320"/>
            <a:ext cx="256032" cy="256032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8412480" y="1426464"/>
            <a:ext cx="3139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DESIRABILITY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8001000" y="1828800"/>
            <a:ext cx="256032" cy="256032"/>
          </a:xfrm>
          <a:prstGeom prst="ellipse">
            <a:avLst/>
          </a:prstGeom>
          <a:solidFill>
            <a:srgbClr val="CCFF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8412480" y="1837944"/>
            <a:ext cx="3139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8001000" y="224028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8412480" y="2249424"/>
            <a:ext cx="3139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VIABILITY</a:t>
            </a:r>
            <a:endParaRPr lang="en-US" sz="1100" dirty="0"/>
          </a:p>
        </p:txBody>
      </p:sp>
      <p:sp>
        <p:nvSpPr>
          <p:cNvPr id="116" name="Text 114"/>
          <p:cNvSpPr txBox="1"/>
          <p:nvPr/>
        </p:nvSpPr>
        <p:spPr>
          <a:xfrm>
            <a:off x="8001000" y="2697480"/>
            <a:ext cx="3550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D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 is een gemiddelde score. Hoe verder naar rechts, hoe sterker het bewijs. Hoe hoger, hoe duurder de test.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8001000" y="3520440"/>
            <a:ext cx="3550615" cy="2834640"/>
          </a:xfrm>
          <a:prstGeom prst="roundRect">
            <a:avLst>
              <a:gd name="adj" fmla="val 6452"/>
            </a:avLst>
          </a:prstGeom>
          <a:solidFill>
            <a:srgbClr val="111111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8275320" y="3776472"/>
            <a:ext cx="300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CFF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SNELLE WINST</a:t>
            </a:r>
            <a:endParaRPr lang="en-US" sz="1000" dirty="0"/>
          </a:p>
        </p:txBody>
      </p:sp>
      <p:sp>
        <p:nvSpPr>
          <p:cNvPr id="119" name="Text 117"/>
          <p:cNvSpPr txBox="1"/>
          <p:nvPr/>
        </p:nvSpPr>
        <p:spPr>
          <a:xfrm>
            <a:off x="8275320" y="40690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kern="0" spc="-2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7</a:t>
            </a:r>
            <a:endParaRPr lang="en-US" sz="6000" dirty="0"/>
          </a:p>
        </p:txBody>
      </p:sp>
      <p:sp>
        <p:nvSpPr>
          <p:cNvPr id="120" name="Text 118"/>
          <p:cNvSpPr txBox="1"/>
          <p:nvPr/>
        </p:nvSpPr>
        <p:spPr>
          <a:xfrm>
            <a:off x="9235440" y="4206240"/>
            <a:ext cx="2087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hypotheses met sterk bewijs tegen lage kosten. Test deze eerst.</a:t>
            </a:r>
            <a:endParaRPr lang="en-US" sz="1100" dirty="0"/>
          </a:p>
        </p:txBody>
      </p:sp>
      <p:sp>
        <p:nvSpPr>
          <p:cNvPr id="121" name="Text 119"/>
          <p:cNvSpPr txBox="1"/>
          <p:nvPr/>
        </p:nvSpPr>
        <p:spPr>
          <a:xfrm>
            <a:off x="8275320" y="5212080"/>
            <a:ext cx="3001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D1   D2   D4   F3   V2   V3   V4</a:t>
            </a:r>
            <a:endParaRPr lang="en-US" sz="1500" dirty="0"/>
          </a:p>
        </p:txBody>
      </p:sp>
      <p:sp>
        <p:nvSpPr>
          <p:cNvPr id="1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5D5F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 Grip Hypotheses">
  <a:themeElements>
    <a:clrScheme name="HI Grip Hypotheses">
      <a:dk1>
        <a:srgbClr val="000000"/>
      </a:dk1>
      <a:lt1>
        <a:srgbClr val="FFFFFF"/>
      </a:lt1>
      <a:dk2>
        <a:srgbClr val="111111"/>
      </a:dk2>
      <a:lt2>
        <a:srgbClr val="EAE8E5"/>
      </a:lt2>
      <a:accent1>
        <a:srgbClr val="CCFF00"/>
      </a:accent1>
      <a:accent2>
        <a:srgbClr val="FF6A00"/>
      </a:accent2>
      <a:accent3>
        <a:srgbClr val="0011A7"/>
      </a:accent3>
      <a:accent4>
        <a:srgbClr val="E10600"/>
      </a:accent4>
      <a:accent5>
        <a:srgbClr val="5C5D5F"/>
      </a:accent5>
      <a:accent6>
        <a:srgbClr val="909194"/>
      </a:accent6>
      <a:hlink>
        <a:srgbClr val="CCFF00"/>
      </a:hlink>
      <a:folHlink>
        <a:srgbClr val="909194"/>
      </a:folHlink>
    </a:clrScheme>
    <a:fontScheme name="HI Grip Hypotheses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Breedbeeld</PresentationFormat>
  <Paragraphs>56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Arial</vt:lpstr>
      <vt:lpstr>Poppins</vt:lpstr>
      <vt:lpstr>Poppins Black</vt:lpstr>
      <vt:lpstr>Poppins ExtraBold</vt:lpstr>
      <vt:lpstr>Poppins SemiBold</vt:lpstr>
      <vt:lpstr>HI Grip Hypotheses</vt:lpstr>
      <vt:lpstr>PowerPoint-presentatie</vt:lpstr>
    </vt:vector>
  </TitlesOfParts>
  <Company>HÏ Grip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HÏ Grip - Hypotheses</dc:title>
  <dc:subject>PptxGenJS Presentation</dc:subject>
  <dc:creator>HÏ Grip</dc:creator>
  <cp:lastModifiedBy>Timo Heijligers</cp:lastModifiedBy>
  <cp:revision>2</cp:revision>
  <dcterms:created xsi:type="dcterms:W3CDTF">2026-10-13T08:21:09Z</dcterms:created>
  <dcterms:modified xsi:type="dcterms:W3CDTF">2026-10-13T08:25:35Z</dcterms:modified>
</cp:coreProperties>
</file>