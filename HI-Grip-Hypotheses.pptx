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Introductie: 15 hypotheses, verdeeld over desirability, feasibility en viability. Elke hypothese heeft een test en een vooraf afgesproken criterium.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Elke pijler heeft vijf hypotheses. Per hypothese: wij geloven, waarom cruciaal, test en criterium.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DESIRABILITY D1
Wij geloven: Prestatiegerichte sporters merken minder blaren, minder wegglijden en meer stabiliteit met HÏ Grip dan met gewone of concurrerende gripsokken, en kopen daarom binnen 6 maanden opnieuw.
Waarom cruciaal: Zonder echt productvoordeel heb je geen merk, geen herhaalaankopen en geen community.
Test: Blinde vergelijkingstest met een team, plus een analyse van herhaalaankopen in Shopify.
Criterium: Minstens 70% voorkeur en minstens 30% herkoop.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DESIRABILITY D2
Wij geloven: Voetbal-, padel- en tennisclubs willen gepersonaliseerde HÏ Grip-sokken opnemen in hun clubpakket en betalen daar een meerprijs voor ten opzichte van standaard sokken.
Waarom cruciaal: Dit is je strategische focus: B2B, hoge volumes, lange termijn.
Test: Aan 15 clubs een concreet voorstel met mock-up en prijs doen.
Criterium: Minstens 4 clubs tekenen een intentieverklaring of plaatsen een order.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DESIRABILITY D3
Wij geloven: Padel- en tennisspelers zien gripsokken als relevant voor hun sport, waar het in het voetbal al een bekende categorie is.
Waarom cruciaal: Het groeiverhaal en de schaal in Europa leunen op deze segmenten.
Test: Landingspagina en advertenties gericht op padel en tennis, plus verkopen bij padelclubs.
Criterium: Conversie en CTR vergelijkbaar met voetbal.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DESIRABILITY D4
Wij geloven: HÏ Grip verkoopt in sportwinkels door zonder zware begeleiding, zodat retailers bijbestellen.
Waarom cruciaal: Een eerste order is geen bewijs, een herhaalorder wel. Retailinteresse is er al (Erasmus Sport, Sport 2000); de onzekerheid zit in de doorverkoop.
Test: De sell-through meten bij de huidige retailers.
Criterium: Minstens 60% verkocht binnen 8 weken en een herbestelling.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DESIRABILITY D5
Wij geloven: Klanten willen actief deelnemen aan de community (events, workouts, mee beslissen) en dat verhoogt hun loyaliteit aantoonbaar.
Waarom cruciaal: Het is een differentiator, maar niet de basis van het model.
Test: Eén event of een digitale community organiseren.
Criterium: Minstens 15% neemt deel en deelnemers kopen vaker opnieuw dan niet-deelnemers.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F1
Wij geloven: Onze producent maakt gepersonaliseerde clubsokken met een MOQ die past bij één club (bijv. 200 tot 500 paar), binnen 6 tot 8 weken en met constante kwaliteit.
Waarom cruciaal: Zonder dit valt de hele B2B-waardepropositie weg.
Test: Een offerte en een proefproductie voor één club.
Criterium: MOQ, levertijd en foutpercentage (onder 2%) binnen de normen.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F2
Wij geloven: We kunnen grote inkooporders voorfinancieren en leveren vóór de seizoensstart van clubs (juli en augustus).
Waarom cruciaal: Mis je het seizoensvenster, dan verlies je de club voor een heel jaar.
Test: Een cashflowplanning voor een realistisch orderscenario en afspraken over aanbetalingen door clubs.
Criterium: Geen financieringsgat en 100% van de orders op tijd geleverd.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F3
Wij geloven: 3 founders, met CRM en AI-automatisering, bedienen minstens 30 clubs en retailers persoonlijk (vaste contactpersoon, maatwerk) zonder dat de kwaliteit daalt.
Waarom cruciaal: De belofte van persoonlijke ondersteuning is arbeidsintensief.
Test: Een tijdregistratie per klant over 4 weken.
Criterium: Minder dan 2 uur per maand per account.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F4
Wij geloven: Via een hogeschool of onderzoeksinstituut kunnen we aantonen dat HÏ Grip meetbaar minder blaren of meer stabiliteit oplevert.
Waarom cruciaal: Dit onderbouwt je premiumprijs en je B2B-pitch, en voorkomt misleidende claims.
Test: Een studentenproject of pilotstudie opzetten.
Criterium: Een significant meetbaar effect.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F5
Wij geloven: Oeko-Tex/GRS en het DPP zijn binnen budget en tijd te realiseren met onze huidige leverancier.
Waarom cruciaal: Dit wordt steeds vaker een eis van retailers en de EU, maar is op korte termijn minder bepalend.
Test: De certificaten opvragen bij de leverancier en offertes vergelijken.
Criterium: Kosten onder €X per paar.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VIABILITY V1
Wij geloven: Bij groothandelsprijzen van €6,00 tot €7,50 houden we na productie, verpakking, import, verzending en acquisitie nog een gezonde marge per paar over.
Waarom cruciaal: B2B moet de volumes leveren. Is de marge daar te dun, dan schaal je verlies.
Test: Een volledige kostprijsberekening per kanaal (webshop, retail, club, marketplace).
Criterium: Brutomarge op B2B van minstens 40 tot 50%.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VIABILITY V2
Wij geloven: Sokken slijten en sporters komen terug, waardoor de CLV minstens 3 keer zo hoog is als de CAC.
Waarom cruciaal: Zonder herhaalaankopen kun je betaalde ads en marketplaces niet rendabel inzetten.
Test: De CAC per kanaal en de herhaalfrequentie uit Shopify halen.
Criterium: Een CLV/CAC-verhouding van minstens 3.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VIABILITY V3
Wij geloven: Clubs bestellen na het eerste seizoen jaarlijks opnieuw (nieuwe leden, slijtage) en willen meerjarige afspraken maken.
Waarom cruciaal: Dit maakt je omzet voorspelbaar en financierbaar.
Test: Het retentiepercentage van bestaande clubs volgen en meerjarige contracten voorstellen.
Criterium: Minstens 70% herbestelt.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VIABILITY V4
Wij geloven: De mix van webshop, retail, clubs en marketplaces levert genoeg volume om de prognose te halen (ca. €95K in 2026 naar ca. €270K in 2028) en de founders een inkomen te geven.
Waarom cruciaal: Dit bepaalt of HÏ Grip een bedrijf is of een bijbaan. Let op de afhankelijkheid van marketplaces: de recente sluiting van de TikTok Shop laat zien hoe kwetsbaar zo'n kanaal is.
Test: Een bottom-up prognose per kanaal toetsen aan de werkelijke cijfers per kwartaal.
Criterium: Maximaal 15% afwijking van de prognose.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VIABILITY V5
Wij geloven: Een deel van de klanten wil een HÏ Grip-abonnement (Basic, Extra, Ultimate) voor terugkerende levering.
Waarom cruciaal: Het is aantrekkelijk, maar een extra inkomstenstroom en niet de basis.
Test: Een fake door of pre-order op de website.
Criterium: Minstens 5% klikt door of schrijft zich in.
Kosten, opzettijd, looptijd en bewijskracht zijn een eerste inschatting en nog te bevestigen.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 map (Testing Business Ideas). x-as: bewijs, links veel bewijs, rechts geen bewijs. y-as: belang, boven belangrijk, onder onbelangrijk. Rechtsboven staan de aannames die we eerst moeten testen: belangrijk en nog zonder bewijs. Het belang volgt uit 'waarom cruciaal'; het bewijs is een eerste inschatting van wat we nu al weten en moet samen worden bevestigd.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Overzicht van alle 15 hypotheses met het hoofdcijfer uit het criterium.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T">
    <p:bg>
      <p:bgPr>
        <a:solidFill>
          <a:srgbClr val="CC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HÏ GRIP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i="1" spc="-2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ONZE 15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AANNAMES.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 we moeten bewijzen om van HÏ Grip een bedrijf te maken, niet een bijbaan.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/  FEASIBILITY  /  VIABILITY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DRIE VRAGEN. VIJF AANNAMES PER VRAAG.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651760"/>
            <a:ext cx="3429000" cy="3291840"/>
          </a:xfrm>
          <a:prstGeom prst="roundRect">
            <a:avLst>
              <a:gd name="adj" fmla="val 6111"/>
            </a:avLst>
          </a:prstGeom>
          <a:solidFill>
            <a:srgbClr val="EAE8E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spc="-3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5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4526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846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WILLEN MENSEN DIT?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5212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Sporters, clubs, retailers en community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9976" y="2651760"/>
            <a:ext cx="3429000" cy="3291840"/>
          </a:xfrm>
          <a:prstGeom prst="roundRect">
            <a:avLst>
              <a:gd name="adj" fmla="val 6111"/>
            </a:avLst>
          </a:prstGeom>
          <a:solidFill>
            <a:srgbClr val="1111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45736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spc="-3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5</a:t>
            </a:r>
            <a:endParaRPr lang="en-US" sz="88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4526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4846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KUNNEN WIJ DIT?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45736" y="5212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Producent, financiering, team, bewijs, certificering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9872" y="2651760"/>
            <a:ext cx="3429000" cy="3291840"/>
          </a:xfrm>
          <a:prstGeom prst="roundRect">
            <a:avLst>
              <a:gd name="adj" fmla="val 6111"/>
            </a:avLst>
          </a:prstGeom>
          <a:solidFill>
            <a:srgbClr val="EAE8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85632" y="2926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spc="-3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5</a:t>
            </a:r>
            <a:endParaRPr lang="en-US" sz="88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4526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85632" y="4846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VERDIENEN WE HIERAAN?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5212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Marge, klantwaarde, clubomzet, prognose, abonnement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ASSUMPTION MAPPING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DESIRABILITY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WILLEN MENSEN DIT?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Merken sporters, clubs en retailers echt het verschil, en komen ze terug?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4805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D1  Merkbaar verschil, terugkerende klant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D2  Gepersonaliseerde clubsokken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D3  Vraag buiten voetbal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D4  Doorverkoop in de retail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D5  Performance Academy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MERKBAAR VERSCHIL, TERUGKERENDE KLANT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SPORTERS MERKEN ECHT VERSCHIL EN KOPEN OPNIEUW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Prestatiegerichte sporters merken minder blaren, minder wegglijden en meer stabiliteit met HÏ Grip dan met gewone of concurrerende gripsokken, en kopen daarom binnen 6 maanden opnieuw.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70%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96596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geeft de voorkeur aan HÏ Grip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56032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30%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2918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koopt binnen 6 maanden opnieuw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Minstens 70% voorkeur en minstens 30% herkoop.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Zonder echt productvoordeel heb je geen merk, geen herhaalaankopen en geen community.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Blinde vergelijkingstest met een team, plus een analyse van herhaalaankopen in Shopify.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GEPERSONALISEERDE CLUBSOKKEN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CLUBS WILLEN GEPERSONALISEERDE GRIPSOKKEN IN HUN CLUBPAKKET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Voetbal-, padel- en tennisclubs willen gepersonaliseerde HÏ Grip-sokken opnemen in hun clubpakket en betalen daar een meerprijs voor ten opzichte van standaard sokken.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4 / 15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clubs tekenen of bestellen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Minstens 4 clubs tekenen een intentieverklaring of plaatsen een order.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Dit is je strategische focus: B2B, hoge volumes, lange termijn.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Aan 15 clubs een concreet voorstel met mock-up en prijs doen.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VRAAG BUITEN VOETBAL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 VRAAG REIKT VERDER DAN VOETBAL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Padel- en tennisspelers zien gripsokken als relevant voor hun sport, waar het in het voetbal al een bekende categorie 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1:1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conversie en CTR ten opzichte van voetbal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Conversie en CTR vergelijkbaar met voetbal.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Het groeiverhaal en de schaal in Europa leunen op deze segmenten.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Landingspagina en advertenties gericht op padel en tennis, plus verkopen bij padelclubs.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DOORVERKOOP IN DE RETAIL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HET PRODUCT VERKOOPT DOOR IN DE RETAIL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HÏ Grip verkoopt in sportwinkels door zonder zware begeleiding, zodat retailers bijbestellen.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60%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96596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verkocht binnen 8 weken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56032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+1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2918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herbestelling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Minstens 60% verkocht binnen 8 weken en een herbestelling.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eerste order is geen bewijs, een herhaalorder wel. Retailinteresse is er al (Erasmus Sport, Sport 2000); de onzekerheid zit in de doorverkoop.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sell-through meten bij de huidige retailers.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PERFORMANCE ACADEMY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SPORTERS WILLEN BIJ DE PERFORMANCE ACADEMY HOREN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Klanten willen actief deelnemen aan de community (events, workouts, mee beslissen) en dat verhoogt hun loyaliteit aantoonbaar.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15%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van de klanten doet mee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Minstens 15% neemt deel en deelnemers kopen vaker opnieuw dan niet-deelnemers.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Het is een differentiator, maar niet de basis van het model.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Eén event of een digitale community organiseren.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ASSUMPTION MAPPING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FEASIBILITY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KUNNEN WIJ DIT?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Kunnen we leveren, financieren, opschalen en onderbouwen wat we beloven?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4805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F1  Personalisatie door de producent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F2  Voorfinanciering en seizoen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F3  B2B-relatiebeheer opschalen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F4  Wetenschappelijke onderbouwing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F5  Certificering en DPP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PERSONALISATIE DOOR DE PRODUCENT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 PRODUCENT LEVERT PERSONALISATIE TEGEN EEN HAALBARE MOQ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Onze producent maakt gepersonaliseerde clubsokken met een MOQ die past bij één club (bijv. 200 tot 500 paar), binnen 6 tot 8 weken en met constante kwaliteit.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200-500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7830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paar MOQ per club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240280"/>
            <a:ext cx="3367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6-8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78892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weken levertijd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3246120"/>
            <a:ext cx="3367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&lt;2%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379476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foutpercentage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MOQ, levertijd en foutpercentage (onder 2%) binnen de normen.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Zonder dit valt de hele B2B-waardepropositie weg.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offerte en een proefproductie voor één club.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VOORFINANCIERING EN SEIZOEN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WE FINANCIEREN DE INKOOP VOOR EN LEVEREN OP TIJD VOOR HET SEIZOEN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kunnen grote inkooporders voorfinancieren en leveren vóór de seizoensstart van clubs (juli en augustus).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96596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van de orders op tijd geleverd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56032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2918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financieringsgat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Geen financieringsgat en 100% van de orders op tijd geleverd.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Mis je het seizoensvenster, dan verlies je de club voor een heel jaar.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cashflowplanning voor een realistisch orderscenario en afspraken over aanbetalingen door clubs.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B2B-RELATIEBEHEER OPSCHALEN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HET TEAM KAN B2B-RELATIEBEHEER OPSCHALEN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founders, met CRM en AI-automatisering, bedienen minstens 30 clubs en retailers persoonlijk (vaste contactpersoon, maatwerk) zonder dat de kwaliteit daalt.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&lt;2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96596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uur per maand per account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56032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30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2918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clubs en retailers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Minder dan 2 uur per maand per account.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belofte van persoonlijke ondersteuning is arbeidsintensief.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tijdregistratie per klant over 4 weken.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WETENSCHAPPELIJKE ONDERBOUWING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WE ONDERBOUWEN ONZE PRESTATIECLAIMS WETENSCHAPPELIJK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Via een hogeschool of onderzoeksinstituut kunnen we aantonen dat HÏ Grip meetbaar minder blaren of meer stabiliteit oplevert.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Effect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significant en meetbaar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significant meetbaar effect.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Dit onderbouwt je premiumprijs en je B2B-pitch, en voorkomt misleidende claims.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studentenproject of pilotstudie opzetten.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CERTIFICERING EN DPP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CERTIFICERING EN HET DIGITAL PRODUCT PASSPORT ZIJN HAALBAAR BINNEN BUDGET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Oeko-Tex/GRS en het DPP zijn binnen budget en tijd te realiseren met onze huidige leverancier.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&lt; €X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 paar (grens nog bepalen)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 onder €X per paar.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Dit wordt steeds vaker een eis van retailers en de EU, maar is op korte termijn minder bepalend.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EAE8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certificaten opvragen bij de leverancier en offertes vergelijken.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90919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C9C9C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FEASIBILITY   </a:t>
            </a:r>
            <a:pPr indent="0" marL="0">
              <a:buNone/>
            </a:pPr>
            <a:r>
              <a:rPr lang="en-US" sz="12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ASSUMPTION MAPPING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i="1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VIABILITY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VERDIENEN WE HIERAAN?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Kloppen marge, klantwaarde, herhaalomzet en de groeiprognose?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44805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V1  Unit economics op B2B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V2  Klantwaarde boven acquisitiekosten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V3  Terugkerende clubomzet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V4  Haalbare groeiprognose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V5  Abonnement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UNIT ECONOMICS OP B2B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 UNIT ECONOMICS KLOPPEN, VOORAL OP B2B-PRIJZEN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Bij groothandelsprijzen van €6,00 tot €7,50 houden we na productie, verpakking, import, verzending en acquisitie nog een gezonde marge per paar over.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40-50%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brutomarge op B2B (eigen grens bepalen)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Brutomarge op B2B van minstens 40 tot 50%.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moet de volumes leveren. Is de marge daar te dun, dan schaal je verlies.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volledige kostprijsberekening per kanaal (webshop, retail, club, marketplace).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KLANTWAARDE BOVEN ACQUISITIEKOSTEN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 KLANTWAARDE IS HOGER DAN DE ACQUISITIEKOSTEN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Sokken slijten en sporters komen terug, waardoor de CLV minstens 3 keer zo hoog is als de CAC.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3x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CLV ten opzichte van CAC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CLV/CAC-verhouding van minstens 3.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Zonder herhaalaankopen kun je betaalde ads en marketplaces niet rendabel inzetten.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CAC per kanaal en de herhaalfrequentie uit Shopify halen.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TERUGKERENDE CLUBOMZET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CLUBDEALS LEVEREN TERUGKERENDE, VOORSPELBARE OMZET OP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Clubs bestellen na het eerste seizoen jaarlijks opnieuw (nieuwe leden, slijtage) en willen meerjarige afspraken maken.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70%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van de clubs herbestelt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Minstens 70% herbestelt.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Dit maakt je omzet voorspelbaar en financierbaar.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Het retentiepercentage van bestaande clubs volgen en meerjarige contracten voorstellen.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HAALBARE GROEIPROGNOSE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DE GROEIPROGNOSE IS HAALBAAR MET DEZE KANAALMIX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mix van webshop, retail, clubs en marketplaces levert genoeg volume om de prognose te halen (ca. €95K in 2026 naar ca. €270K in 2028) en de founders een inkomen te geven.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€95K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96596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omzet 2026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2560320"/>
            <a:ext cx="3367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€270K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32918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omzet 2028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Maximaal 15% afwijking van de prognose.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Dit bepaalt of HÏ Grip een bedrijf is of een bijbaan. Let op de afhankelijkheid van marketplaces: de recente sluiting van de TikTok Shop laat zien hoe kwetsbaar zo'n kanaal is.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bottom-up prognose per kanaal toetsen aan de werkelijke cijfers per kwartaal.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i="1" spc="-200" kern="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965960" y="676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ABONNEMENT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KLANTEN WILLEN EEN ABONNEMENT AFSLUITEN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WIJ GELOVEN DAT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deel van de klanten wil een HÏ Grip-abonnement (Basic, Extra, Ultimate) voor terugkerende levering.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0" y="502920"/>
            <a:ext cx="4099255" cy="5029200"/>
          </a:xfrm>
          <a:prstGeom prst="roundRect">
            <a:avLst>
              <a:gd name="adj" fmla="val 4907"/>
            </a:avLst>
          </a:prstGeom>
          <a:solidFill>
            <a:srgbClr val="CCF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181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3A44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CRITERIUM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234440"/>
            <a:ext cx="33677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000" spc="-2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5%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224028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van de productpagina-bezoekers klikt door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4663440"/>
            <a:ext cx="33677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Minstens 5% klikt door of schrijft zich 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WAAROM CRUCIAAL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Het is aantrekkelijk, maar een extra inkomstenstroom en niet de basis.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0" y="4343400"/>
            <a:ext cx="3108960" cy="1234440"/>
          </a:xfrm>
          <a:prstGeom prst="roundRect">
            <a:avLst>
              <a:gd name="adj" fmla="val 11852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60520" y="44988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TEST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4754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Een fake door of pre-order op de website.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669280"/>
            <a:ext cx="10911535" cy="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KOSTEN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60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8892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546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2316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OPZETTIJD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LOOPTIJD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5925312"/>
            <a:ext cx="118872" cy="118872"/>
          </a:xfrm>
          <a:prstGeom prst="ellipse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3796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5925312"/>
            <a:ext cx="118872" cy="118872"/>
          </a:xfrm>
          <a:prstGeom prst="ellipse">
            <a:avLst/>
          </a:prstGeom>
          <a:ln w="12700">
            <a:solidFill>
              <a:srgbClr val="5C5D5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89320" y="614476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BEWIJSKRACHT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5852160"/>
            <a:ext cx="0" cy="548640"/>
          </a:xfrm>
          <a:prstGeom prst="line">
            <a:avLst/>
          </a:prstGeom>
          <a:noFill/>
          <a:ln w="9525">
            <a:solidFill>
              <a:srgbClr val="5C5D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38160" y="5870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PIJLER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6126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   </a:t>
            </a:r>
            <a:pPr indent="0" marL="0">
              <a:buNone/>
            </a:pPr>
            <a:r>
              <a:rPr lang="en-US" sz="12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   </a:t>
            </a:r>
            <a:pPr indent="0" marL="0">
              <a:buNone/>
            </a:pPr>
            <a:r>
              <a:rPr lang="en-US" sz="1200" b="1" spc="2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09194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spc="-100" kern="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WAAR BEGINNEN WE?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3863340"/>
            <a:ext cx="108813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126480" y="1188720"/>
            <a:ext cx="0" cy="534924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2296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640080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-6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5779008" y="631850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0688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597789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2400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-5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779008" y="589559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9080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555498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0792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-4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779008" y="54726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513207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-3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779008" y="504977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35864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70916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7576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-2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779008" y="46268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4256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428625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5968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-1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5779008" y="420395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-1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01040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344043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2752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779008" y="335813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9432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301752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1144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77824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259461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9536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66216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217170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7928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54608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174879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36320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430000" y="3817620"/>
            <a:ext cx="0" cy="9144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80760" y="1325880"/>
            <a:ext cx="9144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1247120" y="39273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779008" y="12435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194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263640" y="10515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y-as  </a:t>
            </a:r>
            <a:pPr indent="0" marL="0">
              <a:buNone/>
            </a:pPr>
            <a:r>
              <a:rPr lang="en-US" sz="1100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BELANGRIJK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263640" y="6419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D5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ONBELANGRIJK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686800" y="35524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5D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x-as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0000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GEEN BEWIJS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" y="35524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5D5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VEEL BEWIJS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42304" y="156591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33744" y="156591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D1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653784" y="158419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Merkbaar verschil, terugkerende klant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894064" y="198882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985504" y="19888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D2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9305544" y="20071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Gepersonaliseerde clubsokken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010144" y="241173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101584" y="241173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D3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421624" y="243001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Vraag buiten voetbal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364736" y="241173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456176" y="241173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D4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4776216" y="243001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Doorverkoop in de retail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894064" y="494919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985504" y="494919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D5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9305544" y="496747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Performance Academy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010144" y="156591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CCFF0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101584" y="156591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F1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421624" y="158419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Personalisatie door de producent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010144" y="2834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CCFF0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101584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F2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8421624" y="285292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Voorfinanciering en seizoen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26224" y="325755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CCFF0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7217664" y="325755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F3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7537704" y="327583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B2B-relatiebeheer opschalen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364736" y="2834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CCFF00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456176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F4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4776216" y="285292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Wetenschappelijke onderbouwing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126224" y="452628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CCFF0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217664" y="45262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F5</a:t>
            </a:r>
            <a:endParaRPr lang="en-US" sz="1000" dirty="0"/>
          </a:p>
        </p:txBody>
      </p:sp>
      <p:sp>
        <p:nvSpPr>
          <p:cNvPr id="82" name="Text 80"/>
          <p:cNvSpPr txBox="1"/>
          <p:nvPr/>
        </p:nvSpPr>
        <p:spPr>
          <a:xfrm>
            <a:off x="7537704" y="454456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Certificering en DPP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364736" y="198882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456176" y="19888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V1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4776216" y="20071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Unit economics op B2B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242304" y="241173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333744" y="241173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V2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6653784" y="243001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Klantwaarde boven acquisitiekosten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9777984" y="28346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869424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V3</a:t>
            </a:r>
            <a:endParaRPr lang="en-US" sz="1000" dirty="0"/>
          </a:p>
        </p:txBody>
      </p:sp>
      <p:sp>
        <p:nvSpPr>
          <p:cNvPr id="91" name="Text 89"/>
          <p:cNvSpPr txBox="1"/>
          <p:nvPr/>
        </p:nvSpPr>
        <p:spPr>
          <a:xfrm>
            <a:off x="10189464" y="285292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Terugkerende clubomzet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126224" y="198882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217664" y="19888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V4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7537704" y="200710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Haalbare groeiprognose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894064" y="53721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985504" y="53721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V5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9305544" y="539038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Abonnement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452360" y="566928"/>
            <a:ext cx="274320" cy="155448"/>
          </a:xfrm>
          <a:prstGeom prst="roundRect">
            <a:avLst>
              <a:gd name="adj" fmla="val 23529"/>
            </a:avLst>
          </a:prstGeom>
          <a:solidFill>
            <a:srgbClr val="000000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7799832" y="53949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DESIRABILITY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869680" y="566928"/>
            <a:ext cx="274320" cy="155448"/>
          </a:xfrm>
          <a:prstGeom prst="roundRect">
            <a:avLst>
              <a:gd name="adj" fmla="val 23529"/>
            </a:avLst>
          </a:prstGeom>
          <a:solidFill>
            <a:srgbClr val="CCFF00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9217152" y="53949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FEASIBILITY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0287000" y="566928"/>
            <a:ext cx="274320" cy="155448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634472" y="539496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5D5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VIABILITY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5D5F"/>
                </a:solidFill>
                <a:latin typeface="Poppins SemiBold"/>
                <a:ea typeface="Poppins SemiBold"/>
                <a:cs typeface="Poppins SemiBold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HET TESTPLAN OP ÉÉN BLAD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DESIRABILITY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70% / 30%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Merkbaar verschil, terugkerende klant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7980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 / 15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54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Gepersonaliseerde clubsokken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621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1:1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877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Vraag buiten voetbal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443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89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60% / +1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700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Doorverkoop in de retail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1206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D5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12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522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Academy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182880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07992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F1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200-500 / 6-8 / &lt;2%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Personalisatie door de producent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265176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07992" y="27980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F2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2743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100% / 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054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Voorfinanciering en seizoen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347472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07992" y="3621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F3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074920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&lt;2 / 30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074920" y="3877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B2B-relatiebeheer opschalen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43400" y="429768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07992" y="4443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5074920" y="4389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Effect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074920" y="4700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Wetenschappelijke onderbouwing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43400" y="51206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07992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F5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074920" y="5212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&lt; €X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074920" y="5522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Certificering en DPP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04672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CFF00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VIABILITY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46720" y="182880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211312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V1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877824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40-50%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778240" y="2231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economics op B2B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46720" y="265176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11312" y="27980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V2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8778240" y="27432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3x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778240" y="30540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Klantwaarde boven acquisitiekosten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046720" y="347472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11312" y="362102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V3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8778240" y="35661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70%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778240" y="3877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Terugkerende clubomzet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046720" y="429768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11312" y="44439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V4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8778240" y="4389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€95K / €270K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8778240" y="47000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Haalbare groeiprognose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046720" y="51206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211312" y="5266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FF00"/>
                </a:solidFill>
                <a:latin typeface="Poppins Black" pitchFamily="34" charset="0"/>
                <a:ea typeface="Poppins Black" pitchFamily="34" charset="-122"/>
                <a:cs typeface="Poppins Black" pitchFamily="34" charset="-120"/>
              </a:rPr>
              <a:t>V5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8778240" y="5212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ExtraBold" pitchFamily="34" charset="0"/>
                <a:ea typeface="Poppins ExtraBold" pitchFamily="34" charset="-122"/>
                <a:cs typeface="Poppins ExtraBold" pitchFamily="34" charset="-120"/>
              </a:rPr>
              <a:t>5%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778240" y="5522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091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Abonnement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 Grip Hypotheses">
  <a:themeElements>
    <a:clrScheme name="HI Grip Hypotheses">
      <a:dk1>
        <a:srgbClr val="000000"/>
      </a:dk1>
      <a:lt1>
        <a:srgbClr val="FFFFFF"/>
      </a:lt1>
      <a:dk2>
        <a:srgbClr val="111111"/>
      </a:dk2>
      <a:lt2>
        <a:srgbClr val="EAE8E5"/>
      </a:lt2>
      <a:accent1>
        <a:srgbClr val="CCFF00"/>
      </a:accent1>
      <a:accent2>
        <a:srgbClr val="FF6A00"/>
      </a:accent2>
      <a:accent3>
        <a:srgbClr val="0011A7"/>
      </a:accent3>
      <a:accent4>
        <a:srgbClr val="E10600"/>
      </a:accent4>
      <a:accent5>
        <a:srgbClr val="5C5D5F"/>
      </a:accent5>
      <a:accent6>
        <a:srgbClr val="909194"/>
      </a:accent6>
      <a:hlink>
        <a:srgbClr val="CCFF00"/>
      </a:hlink>
      <a:folHlink>
        <a:srgbClr val="909194"/>
      </a:folHlink>
    </a:clrScheme>
    <a:fontScheme name="HI Grip Hypotheses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HÏ Grip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HÏ Grip - Hypotheses</dc:title>
  <dc:subject>PptxGenJS Presentation</dc:subject>
  <dc:creator>HÏ Grip</dc:creator>
  <cp:lastModifiedBy>HÏ Grip</cp:lastModifiedBy>
  <cp:revision>1</cp:revision>
  <dcterms:created xsi:type="dcterms:W3CDTF">2026-10-13T08:38:18Z</dcterms:created>
  <dcterms:modified xsi:type="dcterms:W3CDTF">2026-10-13T08:38:18Z</dcterms:modified>
</cp:coreProperties>
</file>