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37D2F636-90BC-6A23-AE5D-4CA974C2B75A}">
          <p14:sldIdLst>
            <p14:sldId id="256"/>
          </p14:sldIdLst>
        </p14:section>
        <p14:section name="Probleem en oplossing" id="{D747E4D7-2146-FD42-5C67-A61B38499483}">
          <p14:sldIdLst>
            <p14:sldId id="258"/>
            <p14:sldId id="259"/>
          </p14:sldIdLst>
        </p14:section>
        <p14:section name="Bewijs" id="{81906719-5808-B7C6-0501-961E763C00FE}">
          <p14:sldIdLst>
            <p14:sldId id="260"/>
            <p14:sldId id="261"/>
            <p14:sldId id="262"/>
          </p14:sldIdLst>
        </p14:section>
        <p14:section name="Cijfers" id="{CAE8F26C-CD61-FFB9-5CEA-251AE976955D}">
          <p14:sldIdLst>
            <p14:sldId id="263"/>
          </p14:sldIdLst>
        </p14:section>
        <p14:section name="Toekomst" id="{BD9F776D-4F38-6F62-ACA6-86631837E159}">
          <p14:sldIdLst>
            <p14:sldId id="264"/>
            <p14:sldId id="265"/>
          </p14:sldIdLst>
        </p14:section>
        <p14:section name="Team" id="{EF8526AE-4B72-33CA-25F2-43592F960CC7}">
          <p14:sldIdLst>
            <p14:sldId id="266"/>
            <p14:sldId id="267"/>
          </p14:sldIdLst>
        </p14:section>
        <p14:section name="Investering" id="{DF1BF0A7-5493-7D43-894C-0D45E388DB2A}">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o Heijligers" userId="01d7936dd353924d" providerId="LiveId" clId="{74FCCF6E-29E1-4FF5-BC7E-DF6D7D77CE21}"/>
    <pc:docChg chg="undo custSel delSld modSld modSection">
      <pc:chgData name="Timo Heijligers" userId="01d7936dd353924d" providerId="LiveId" clId="{74FCCF6E-29E1-4FF5-BC7E-DF6D7D77CE21}" dt="2026-10-06T12:09:17.199" v="12" actId="47"/>
      <pc:docMkLst>
        <pc:docMk/>
      </pc:docMkLst>
      <pc:sldChg chg="delSp modSp mod">
        <pc:chgData name="Timo Heijligers" userId="01d7936dd353924d" providerId="LiveId" clId="{74FCCF6E-29E1-4FF5-BC7E-DF6D7D77CE21}" dt="2026-10-06T12:08:15.503" v="6" actId="478"/>
        <pc:sldMkLst>
          <pc:docMk/>
          <pc:sldMk cId="0" sldId="256"/>
        </pc:sldMkLst>
        <pc:spChg chg="del">
          <ac:chgData name="Timo Heijligers" userId="01d7936dd353924d" providerId="LiveId" clId="{74FCCF6E-29E1-4FF5-BC7E-DF6D7D77CE21}" dt="2026-10-06T12:06:42.912" v="2" actId="478"/>
          <ac:spMkLst>
            <pc:docMk/>
            <pc:sldMk cId="0" sldId="256"/>
            <ac:spMk id="4" creationId="{00000000-0000-0000-0000-000000000000}"/>
          </ac:spMkLst>
        </pc:spChg>
        <pc:spChg chg="del mod">
          <ac:chgData name="Timo Heijligers" userId="01d7936dd353924d" providerId="LiveId" clId="{74FCCF6E-29E1-4FF5-BC7E-DF6D7D77CE21}" dt="2026-10-06T12:06:41.648" v="1" actId="478"/>
          <ac:spMkLst>
            <pc:docMk/>
            <pc:sldMk cId="0" sldId="256"/>
            <ac:spMk id="5" creationId="{00000000-0000-0000-0000-000000000000}"/>
          </ac:spMkLst>
        </pc:spChg>
        <pc:spChg chg="del mod">
          <ac:chgData name="Timo Heijligers" userId="01d7936dd353924d" providerId="LiveId" clId="{74FCCF6E-29E1-4FF5-BC7E-DF6D7D77CE21}" dt="2026-10-06T12:08:12.607" v="5" actId="478"/>
          <ac:spMkLst>
            <pc:docMk/>
            <pc:sldMk cId="0" sldId="256"/>
            <ac:spMk id="7" creationId="{00000000-0000-0000-0000-000000000000}"/>
          </ac:spMkLst>
        </pc:spChg>
        <pc:spChg chg="del">
          <ac:chgData name="Timo Heijligers" userId="01d7936dd353924d" providerId="LiveId" clId="{74FCCF6E-29E1-4FF5-BC7E-DF6D7D77CE21}" dt="2026-10-06T12:08:15.503" v="6" actId="478"/>
          <ac:spMkLst>
            <pc:docMk/>
            <pc:sldMk cId="0" sldId="256"/>
            <ac:spMk id="9" creationId="{00000000-0000-0000-0000-000000000000}"/>
          </ac:spMkLst>
        </pc:spChg>
      </pc:sldChg>
      <pc:sldChg chg="delSp modSp del mod">
        <pc:chgData name="Timo Heijligers" userId="01d7936dd353924d" providerId="LiveId" clId="{74FCCF6E-29E1-4FF5-BC7E-DF6D7D77CE21}" dt="2026-10-06T12:09:17.199" v="12" actId="47"/>
        <pc:sldMkLst>
          <pc:docMk/>
          <pc:sldMk cId="0" sldId="257"/>
        </pc:sldMkLst>
        <pc:spChg chg="del">
          <ac:chgData name="Timo Heijligers" userId="01d7936dd353924d" providerId="LiveId" clId="{74FCCF6E-29E1-4FF5-BC7E-DF6D7D77CE21}" dt="2026-10-06T12:09:06.747" v="10" actId="478"/>
          <ac:spMkLst>
            <pc:docMk/>
            <pc:sldMk cId="0" sldId="257"/>
            <ac:spMk id="3" creationId="{00000000-0000-0000-0000-000000000000}"/>
          </ac:spMkLst>
        </pc:spChg>
        <pc:spChg chg="del">
          <ac:chgData name="Timo Heijligers" userId="01d7936dd353924d" providerId="LiveId" clId="{74FCCF6E-29E1-4FF5-BC7E-DF6D7D77CE21}" dt="2026-10-06T12:09:04.432" v="9" actId="478"/>
          <ac:spMkLst>
            <pc:docMk/>
            <pc:sldMk cId="0" sldId="257"/>
            <ac:spMk id="4" creationId="{00000000-0000-0000-0000-000000000000}"/>
          </ac:spMkLst>
        </pc:spChg>
        <pc:picChg chg="mod">
          <ac:chgData name="Timo Heijligers" userId="01d7936dd353924d" providerId="LiveId" clId="{74FCCF6E-29E1-4FF5-BC7E-DF6D7D77CE21}" dt="2026-10-06T12:09:02.079" v="8" actId="1076"/>
          <ac:picMkLst>
            <pc:docMk/>
            <pc:sldMk cId="0" sldId="257"/>
            <ac:picMk id="2" creationId="{00000000-0000-0000-0000-000000000000}"/>
          </ac:picMkLst>
        </pc:picChg>
        <pc:picChg chg="del">
          <ac:chgData name="Timo Heijligers" userId="01d7936dd353924d" providerId="LiveId" clId="{74FCCF6E-29E1-4FF5-BC7E-DF6D7D77CE21}" dt="2026-10-06T12:09:14.470" v="11" actId="478"/>
          <ac:picMkLst>
            <pc:docMk/>
            <pc:sldMk cId="0" sldId="257"/>
            <ac:picMk id="5"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939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energiek en kort. Wij zijn Lars, Tigo en Timo. Slogan: More grip, better performance. Doel van vanavond: €50.000 om door te groeien.
FOTO: EIGEN. Drive &gt; Content B2C &gt; Sporten &gt; TENNIS &gt; Zwart 2.0 (IMG_4143).</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probleem in drie cijfers. 20–60% van de atleten heeft last van blaren tijdens trainingen of wedstrijden. 5,3 miljoen sportblessures in Nederland (2023). 13% van alle blessures in het voetbal is een enkelblessure. Verder: 5–30% van de sporters krijgt shin splints bij intensieve trainingen. De keten die we vertellen: slecht materiaal, dan pijn en blessure, dan structureel onderpresteren. Nooit 100%.
FOTO: EIGEN. Drive &gt; Campagnes / Events &gt; FOTO'S TVB OPEN 2026 (KC8A0054-2). Een sterker pijnbeeld (voet die glijdt, blaar) maak je zelf; stock zoekterm: 'foot slipping inside sports shoe close up'.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Onze drie pijlers. Innovatie: stilstaan is achteruitgang. Comfort: de reden dat sporters langdurig kunnen presteren. Vertrouwen: in het dragen van de juiste materialen. Missie: materiaal mag nooit een obstakel zijn voor succes. Visie: over 10 jaar de standaard in performance sportswear.
FOTO: EIGEN. Drive &gt; Productfoto's &gt; PERFORMANCE GRIP SOCKS 2.0 (Zwart voorkant). Ook beschikbaar: wit, 3-pack en 5-pack.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Wrijvingscoëfficiënt 0,60 bij gewone sokken tegen 1,17 bij gripsokken: 1,17 gedeeld door 0,60 is 1,95, dus 95% meer grip. Let op de formulering: dit is onderzoek naar gripsokken in het algemeen (Apps et al. 2022, Journal of Sports Sciences, doi 10.1080/02640414.2022.2080163), niet een test van de HÏ Grip-sok zelf. Zeg dus nooit 'HÏ Grip getest'. Friedl et al. 2023 geeft gemengd bewijs; alleen de +9,3% benutte tractie bij afremmen is citeerbaar.
FOTO: Geen foto: bewust een typografische slide. Wil je toch beeld: STOCK/EIGEN close-up van een sok die houdt in een schoen.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Drie cijfers: 3000+ sporters dragen HÏ Grip, 10+ B2B-partners, €22.000+ omzet. Winst: €12.000+. Kanalen: HÏ Grip Zakelijk, clubwear, pilates, retail. Reviewscore 4,6 op Trustpilot (17 reviews op 3 september) mag genoemd worden, altijd met bron. De 3000+ is bevestigd door Lars (15 september); de oude 1.500+ nooit meer gebruiken.
FOTO: EIGEN nodig. Screenshots of mockup van Instagram- en TikTok-posts van klanten (user generated content).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Onze B2B-partners in drie groepen. Retail: Sport2000 Naaldwijk en Sport2000 Nootdorp. Clubs: Concordia Delft, V.V. Spirit, V.V. Lyra De Lier. Gyms: SYTH en MyHealthClub. Totaal 10+ organisaties; tel voorzichtig, dit aantal is niet exact geteld.
FOTO: EIGEN. Retail: productfoto zwarte achtergrond (Productfoto's). Clubs: TVB Open (KC8A0061), er zijn nog geen foto's van de partnerclubs zelf. Gyms: OVER ONS PILATES. Vervang door beeld bij de echte partners (met hun toestemming).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Grip Socks 2.0. Verkoopprijs €17,95 incl. btw (webshop en adviesprijs retail gelijk, besluit Lars 2 oktober). [CHECK] De brutomarge van 65,9% en de potentiële winst van €58.780 komen uit de oude pitch, berekend met een verkoopprijs van €17,99 en een kostprijs van €5,77. Controleer beide met de actuele prijs en kostprijs vóór de pitch en haal daarna de CHECK-labels van de slide.
FOTO: EIGEN. Drive &gt; TVB Open 2026 (KC8A0031): verpakte sokken. Voor een echte productiefoto: vraag de leverancier of maak een inpakfoto.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 er na de Performance Grip Socks komt. Performance Tubes en Performance Ski Socks · ALPINE PRO: komen binnenkort. Noem geen lanceringsdatum en geen productclaims; die staan niet vast in het feitenbestand. Intern plant het financieel plan skisokken met gelprotectie voor Q4 2027, maar dat is een intern uitgangspunt en geen publieke belofte. Performance Academy: de community van HÏ Grip-sporters, verbonden door events, sportswear en vertrouwen. Verder in ontwikkeling: high-end sportswear, data gadgets, compressie, outdoor, recovery en trend-gedreven branding.
FOTO: Tubes: EIGEN nodig (prototype/samples); de Drive-map PERFORMANCE TUBES is leeg, dus placeholder. Ski: ontwerp uit Drive &gt; Productfoto's &gt; PERFORMANCE SKI SOCKS (4.png), een ontwerp en nog geen echte foto. Academy: TVB Open (KC8A0140).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2026 tot 2031. 2026–27: B2B opschalen, optimalisatie supply chain, Performance Academy, samenwerkingen met universiteiten. 2028–29: B2B-netwerk door heel Nederland, samenwerkingen met professionele clubs, daarna EU-expansie. 2031: toonaangevend Nederlands performance sportswear merk. De oude pitch had hier een grap over wonen en overal zijn in Nederland; gebruik die in de voordracht.
FOTO: EIGEN. Drive &gt; Over Ons &gt; ROTTERDAM BUSINESS SCHOOL (IMG_0442). Sterker 'Nederland'-beeld nodig? Stock zoekterm: 'Dutch sports field sunset'.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Wij zijn de drie founders. Lars Cretz: voetbal, tennis; finance, design, Meta, TikTok, AI, R&amp;D, fulfilment. Tigo Twigt: skiën, voetbal, hardlopen; sales, operationeel, B2B, LinkedIn, website, e-mailmarketing, klantenservice. Timo Heijligers: snowboarden, gym; B2B, inkoop, website, finance, R&amp;D, ads, import, sales. Vertel per persoon waarom jij hierin gelooft.
FOTO: EIGEN. Drive &gt; Over Ons: LARS OUD, TIGO OUD, TIMO OUD (sportactiefoto's). 'OUD' en 'JONG' in de bestandsnamen zijn aangenomen als ouder en kind; controleer dit. Echte portretten zijn nog beter.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Denzel is onze AI content agent die 24/7 draait: volledig geïntegreerd in de workflow via Claude, Higgsfield, Obsidian en VS Code. Taken: website creative, partner research, edit en caption, ideegeneratie, strategisch vermogen. Coaches: Hans Scheffer (creatieve mentor), Bianca Verschuren (branchementor), Robert Ruisaard (ondernemende mentor) en Jeroen Cremers (rol aanvullen). Wij doen dit naast onze studie.
FOTO: EIGEN. Drive &gt; Over Ons: AUDITORIUM (pitch voor een volle zaal). Beter: foto met de coaches of de werkplek met Denzel.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Vermogensbehoefte per 31 december (excl. btw), uit Financieel Plan 2026–2031 (v5 balans 31-12): 2026 €13.260, 2027 €25.100, 2028 €69.700, 2029 €172.100, 2030 €263.800, 2031 €374.300. Het grootste deel is voorraad, debiteuren B2B en kasbuffer. Het plan is elk jaar winstgevend (resultaat na belasting 2027 €28.380 tot 2031 €96.904) en sluit op elkaar aan: vermogensbehoefte, financieringsplan en exploitatiebegroting. Let op: in dat model is alleen Qredits €25.000 (2028) nieuw geld naast de lening van de investeerder (€25.000, 2026); het model stelt dat een extra investeerder niet nodig is. Zorg dat jullie verhaal bij de €50.000-vraag daarop aansluit en leg uit waarom extra kapitaal groei versnelt.
FOTO: Geen foto: bewust een typografische slide.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vraag: €50.000. Verdeling: €20.000 voor de inkoop van skisokken (FOB plus logistiek) en €30.000 voor marketing en content: influencers, Meta ads, contentshoots en fysieke events. Bewijspunten waarom nu: bewezen tractie met terugkerende klanten, een gedreven team met brede skills, financieel gezond met marges bij B2B én B2C. Check vóór de pitch de aansluiting met het financieel plan (zie slide 13).
FOTO: EIGEN. Drive &gt; TVB Open 2026 (KC8A0034-2): founder met pack sokken. Beter: teamfoto van alle drie met product.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Sluit af met de slogan en de contactgegevens: info@higrip.nl en higrip.nl. Vraag actief om een gesprek.
FOTO: EIGEN. Drive &gt; Content B2C &gt; Sporten &gt; TENNIS &gt; Wit 2.0 (IMG_4210).</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02920"/>
            <a:ext cx="11064240" cy="1097280"/>
          </a:xfrm>
          <a:prstGeom prst="rect">
            <a:avLst/>
          </a:prstGeom>
          <a:noFill/>
          <a:ln/>
        </p:spPr>
        <p:txBody>
          <a:bodyPr wrap="square" rtlCol="0"/>
          <a:lstStyle>
            <a:lvl1pPr marL="0" indent="0" algn="l">
              <a:buNone/>
              <a:defRPr lang="en-US" sz="4400" b="1" dirty="0">
                <a:solidFill>
                  <a:schemeClr val="bg1"/>
                </a:solidFill>
                <a:latin typeface="Poppins" pitchFamily="34" charset="0"/>
                <a:ea typeface="Poppins" pitchFamily="34" charset="-122"/>
                <a:cs typeface="Poppins" pitchFamily="34" charset="-120"/>
              </a:defRPr>
            </a:lvl1pPr>
          </a:lstStyle>
          <a:p>
            <a:pPr marL="0" indent="0" algn="l">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LAC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02920"/>
            <a:ext cx="11064240" cy="1097280"/>
          </a:xfrm>
          <a:prstGeom prst="rect">
            <a:avLst/>
          </a:prstGeom>
          <a:noFill/>
          <a:ln/>
        </p:spPr>
        <p:txBody>
          <a:bodyPr wrap="square" rtlCol="0"/>
          <a:lstStyle>
            <a:lvl1pPr marL="0" indent="0" algn="l">
              <a:buNone/>
              <a:defRPr lang="en-US" sz="4400" b="1" dirty="0">
                <a:solidFill>
                  <a:schemeClr val="bg1"/>
                </a:solidFill>
                <a:latin typeface="Poppins" pitchFamily="34" charset="0"/>
                <a:ea typeface="Poppins" pitchFamily="34" charset="-122"/>
                <a:cs typeface="Poppins" pitchFamily="34" charset="-120"/>
              </a:defRPr>
            </a:lvl1pPr>
          </a:lstStyle>
          <a:p>
            <a:pPr marL="0" indent="0" algn="l">
              <a:buNone/>
            </a:pPr>
            <a:endParaRPr lang="en-US" sz="4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02920"/>
            <a:ext cx="11064240" cy="1097280"/>
          </a:xfrm>
          <a:prstGeom prst="rect">
            <a:avLst/>
          </a:prstGeom>
          <a:noFill/>
          <a:ln/>
        </p:spPr>
        <p:txBody>
          <a:bodyPr wrap="square" rtlCol="0"/>
          <a:lstStyle>
            <a:lvl1pPr marL="0" indent="0" algn="l">
              <a:buNone/>
              <a:defRPr lang="en-US" sz="4400" b="1" dirty="0">
                <a:solidFill>
                  <a:schemeClr val="tx1"/>
                </a:solidFill>
                <a:latin typeface="Poppins" pitchFamily="34" charset="0"/>
                <a:ea typeface="Poppins" pitchFamily="34" charset="-122"/>
                <a:cs typeface="Poppins" pitchFamily="34" charset="-120"/>
              </a:defRPr>
            </a:lvl1pPr>
          </a:lstStyle>
          <a:p>
            <a:pPr marL="0" indent="0" algn="l">
              <a:buNone/>
            </a:pPr>
            <a:endParaRPr lang="en-US" sz="44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OLT">
    <p:bg>
      <p:bgPr>
        <a:solidFill>
          <a:schemeClr val="accent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02920"/>
            <a:ext cx="11064240" cy="1097280"/>
          </a:xfrm>
          <a:prstGeom prst="rect">
            <a:avLst/>
          </a:prstGeom>
          <a:noFill/>
          <a:ln/>
        </p:spPr>
        <p:txBody>
          <a:bodyPr wrap="square" rtlCol="0"/>
          <a:lstStyle>
            <a:lvl1pPr marL="0" indent="0" algn="l">
              <a:buNone/>
              <a:defRPr lang="en-US" sz="4400" b="1" dirty="0">
                <a:solidFill>
                  <a:schemeClr val="tx1"/>
                </a:solidFill>
                <a:latin typeface="Poppins" pitchFamily="34" charset="0"/>
                <a:ea typeface="Poppins" pitchFamily="34" charset="-122"/>
                <a:cs typeface="Poppins" pitchFamily="34" charset="-120"/>
              </a:defRPr>
            </a:lvl1pPr>
          </a:lstStyle>
          <a:p>
            <a:pPr marL="0" indent="0" algn="l">
              <a:buNone/>
            </a:pPr>
            <a:endParaRPr lang="en-US" sz="44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PLIT_L">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02920"/>
            <a:ext cx="5669280" cy="1371600"/>
          </a:xfrm>
          <a:prstGeom prst="rect">
            <a:avLst/>
          </a:prstGeom>
          <a:noFill/>
          <a:ln/>
        </p:spPr>
        <p:txBody>
          <a:bodyPr wrap="square" rtlCol="0"/>
          <a:lstStyle>
            <a:lvl1pPr marL="0" indent="0" algn="l">
              <a:buNone/>
              <a:defRPr lang="en-US" sz="4000" b="1" dirty="0">
                <a:solidFill>
                  <a:schemeClr val="bg1"/>
                </a:solidFill>
                <a:latin typeface="Poppins" pitchFamily="34" charset="0"/>
                <a:ea typeface="Poppins" pitchFamily="34" charset="-122"/>
                <a:cs typeface="Poppins" pitchFamily="34" charset="-120"/>
              </a:defRPr>
            </a:lvl1pPr>
          </a:lstStyle>
          <a:p>
            <a:pPr marL="0" indent="0" algn="l">
              <a:buNone/>
            </a:pPr>
            <a:endParaRPr lang="en-US" sz="40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PLIT_R">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0" y="502920"/>
            <a:ext cx="5212080" cy="1371600"/>
          </a:xfrm>
          <a:prstGeom prst="rect">
            <a:avLst/>
          </a:prstGeom>
          <a:noFill/>
          <a:ln/>
        </p:spPr>
        <p:txBody>
          <a:bodyPr wrap="square" rtlCol="0"/>
          <a:lstStyle>
            <a:lvl1pPr marL="0" indent="0" algn="l">
              <a:buNone/>
              <a:defRPr lang="en-US" sz="4000" b="1" dirty="0">
                <a:solidFill>
                  <a:schemeClr val="bg1"/>
                </a:solidFill>
                <a:latin typeface="Poppins" pitchFamily="34" charset="0"/>
                <a:ea typeface="Poppins" pitchFamily="34" charset="-122"/>
                <a:cs typeface="Poppins" pitchFamily="34" charset="-120"/>
              </a:defRPr>
            </a:lvl1pPr>
          </a:lstStyle>
          <a:p>
            <a:pPr marL="0" indent="0" algn="l">
              <a:buNone/>
            </a:pPr>
            <a:endParaRPr lang="en-US" sz="40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HOTO">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651760"/>
            <a:ext cx="11064240" cy="2194560"/>
          </a:xfrm>
          <a:prstGeom prst="rect">
            <a:avLst/>
          </a:prstGeom>
          <a:noFill/>
          <a:ln/>
        </p:spPr>
        <p:txBody>
          <a:bodyPr wrap="square" rtlCol="0"/>
          <a:lstStyle>
            <a:lvl1pPr marL="0" indent="0" algn="l">
              <a:buNone/>
              <a:defRPr lang="en-US" sz="6000" b="1" i="1" dirty="0">
                <a:solidFill>
                  <a:schemeClr val="bg1"/>
                </a:solidFill>
                <a:latin typeface="Poppins" pitchFamily="34" charset="0"/>
                <a:ea typeface="Poppins" pitchFamily="34" charset="-122"/>
                <a:cs typeface="Poppins" pitchFamily="34" charset="-120"/>
              </a:defRPr>
            </a:lvl1pPr>
          </a:lstStyle>
          <a:p>
            <a:pPr marL="0" indent="0" algn="l">
              <a:buNone/>
            </a:pPr>
            <a:endParaRPr lang="en-US" sz="600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6.jpg"/><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13.jpg"/><Relationship Id="rId4" Type="http://schemas.openxmlformats.org/officeDocument/2006/relationships/image" Target="../media/image12.jpg"/></Relationships>
</file>

<file path=ppt/slides/_rels/slide1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Foto slide-01-open-tennis-klei.jpg" descr="Tennisser in zwart HÏ Grip-shirt op gravelbaan (TVB Open)"/>
          <p:cNvPicPr>
            <a:picLocks noChangeAspect="1"/>
          </p:cNvPicPr>
          <p:nvPr/>
        </p:nvPicPr>
        <p:blipFill>
          <a:blip r:embed="rId3"/>
          <a:stretch>
            <a:fillRect/>
          </a:stretch>
        </p:blipFill>
        <p:spPr>
          <a:xfrm>
            <a:off x="0" y="0"/>
            <a:ext cx="12188952" cy="6858000"/>
          </a:xfrm>
          <a:prstGeom prst="rect">
            <a:avLst/>
          </a:prstGeom>
        </p:spPr>
      </p:pic>
      <p:sp>
        <p:nvSpPr>
          <p:cNvPr id="3" name="Dimlaag"/>
          <p:cNvSpPr/>
          <p:nvPr/>
        </p:nvSpPr>
        <p:spPr>
          <a:xfrm>
            <a:off x="0" y="0"/>
            <a:ext cx="12188952" cy="6858000"/>
          </a:xfrm>
          <a:prstGeom prst="rect">
            <a:avLst/>
          </a:prstGeom>
          <a:solidFill>
            <a:schemeClr val="tx1">
              <a:alpha val="55000"/>
            </a:schemeClr>
          </a:solidFill>
          <a:ln w="12700">
            <a:solidFill>
              <a:schemeClr val="tx1">
                <a:alpha val="0"/>
              </a:schemeClr>
            </a:solidFill>
            <a:prstDash val="solid"/>
          </a:ln>
        </p:spPr>
        <p:txBody>
          <a:bodyPr/>
          <a:lstStyle/>
          <a:p>
            <a:endParaRPr lang="nl-NL"/>
          </a:p>
        </p:txBody>
      </p:sp>
      <p:sp>
        <p:nvSpPr>
          <p:cNvPr id="6" name="Text 0"/>
          <p:cNvSpPr>
            <a:spLocks noGrp="1"/>
          </p:cNvSpPr>
          <p:nvPr>
            <p:ph type="title" idx="100" hasCustomPrompt="1"/>
          </p:nvPr>
        </p:nvSpPr>
        <p:spPr>
          <a:xfrm>
            <a:off x="548640" y="2651760"/>
            <a:ext cx="11064240" cy="2194560"/>
          </a:xfrm>
          <a:prstGeom prst="rect">
            <a:avLst/>
          </a:prstGeom>
          <a:noFill/>
          <a:ln/>
        </p:spPr>
        <p:txBody>
          <a:bodyPr wrap="square" lIns="0" tIns="0" rIns="0" bIns="0" rtlCol="0" anchor="b"/>
          <a:lstStyle/>
          <a:p>
            <a:pPr marL="0" indent="0" algn="l">
              <a:buNone/>
            </a:pPr>
            <a:r>
              <a:rPr lang="en-US" sz="6000" b="1" i="1" dirty="0">
                <a:solidFill>
                  <a:schemeClr val="bg1"/>
                </a:solidFill>
                <a:latin typeface="Poppins" pitchFamily="34" charset="0"/>
                <a:ea typeface="Poppins" pitchFamily="34" charset="-122"/>
                <a:cs typeface="Poppins" pitchFamily="34" charset="-120"/>
              </a:rPr>
              <a:t>GA DOOR WAAR ANDEREN STOPPEN</a:t>
            </a:r>
            <a:endParaRPr lang="en-US" sz="6000" dirty="0"/>
          </a:p>
        </p:txBody>
      </p:sp>
      <p:sp>
        <p:nvSpPr>
          <p:cNvPr id="8" name="Text 5"/>
          <p:cNvSpPr txBox="1"/>
          <p:nvPr/>
        </p:nvSpPr>
        <p:spPr>
          <a:xfrm>
            <a:off x="4023360" y="5669280"/>
            <a:ext cx="4937760" cy="457200"/>
          </a:xfrm>
          <a:prstGeom prst="rect">
            <a:avLst/>
          </a:prstGeom>
          <a:noFill/>
          <a:ln/>
        </p:spPr>
        <p:txBody>
          <a:bodyPr wrap="square" lIns="0" tIns="0" rIns="0" bIns="0" rtlCol="0" anchor="t"/>
          <a:lstStyle/>
          <a:p>
            <a:pPr marL="0" indent="0">
              <a:buNone/>
            </a:pPr>
            <a:r>
              <a:rPr lang="en-US" sz="1400" b="1" kern="0" spc="300" dirty="0">
                <a:solidFill>
                  <a:schemeClr val="bg1"/>
                </a:solidFill>
                <a:latin typeface="Poppins" pitchFamily="34" charset="0"/>
                <a:ea typeface="Poppins" pitchFamily="34" charset="-122"/>
                <a:cs typeface="Poppins" pitchFamily="34" charset="-120"/>
              </a:rPr>
              <a:t>MORE GRIP, BETTER PERFORMANCE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Foto slide-03-probleem-tennis-actie.jpg" descr="Tennisser met volle inzet op gravel (TVB Open)"/>
          <p:cNvPicPr>
            <a:picLocks noChangeAspect="1"/>
          </p:cNvPicPr>
          <p:nvPr/>
        </p:nvPicPr>
        <p:blipFill>
          <a:blip r:embed="rId3"/>
          <a:stretch>
            <a:fillRect/>
          </a:stretch>
        </p:blipFill>
        <p:spPr>
          <a:xfrm>
            <a:off x="6400800" y="0"/>
            <a:ext cx="5788152" cy="6858000"/>
          </a:xfrm>
          <a:prstGeom prst="rect">
            <a:avLst/>
          </a:prstGeom>
        </p:spPr>
      </p:pic>
      <p:sp>
        <p:nvSpPr>
          <p:cNvPr id="3" name="Label foto-type"/>
          <p:cNvSpPr/>
          <p:nvPr/>
        </p:nvSpPr>
        <p:spPr>
          <a:xfrm>
            <a:off x="6629400" y="228600"/>
            <a:ext cx="1600200" cy="329184"/>
          </a:xfrm>
          <a:prstGeom prst="roundRect">
            <a:avLst>
              <a:gd name="adj" fmla="val 50000"/>
            </a:avLst>
          </a:prstGeom>
          <a:solidFill>
            <a:schemeClr val="accent1"/>
          </a:solidFill>
          <a:ln w="6350">
            <a:solidFill>
              <a:schemeClr val="accent1"/>
            </a:solidFill>
            <a:prstDash val="solid"/>
          </a:ln>
        </p:spPr>
        <p:txBody>
          <a:bodyPr/>
          <a:lstStyle/>
          <a:p>
            <a:endParaRPr lang="nl-NL"/>
          </a:p>
        </p:txBody>
      </p:sp>
      <p:sp>
        <p:nvSpPr>
          <p:cNvPr id="4" name="Label tekst"/>
          <p:cNvSpPr txBox="1"/>
          <p:nvPr/>
        </p:nvSpPr>
        <p:spPr>
          <a:xfrm>
            <a:off x="6629400" y="228600"/>
            <a:ext cx="1600200" cy="329184"/>
          </a:xfrm>
          <a:prstGeom prst="rect">
            <a:avLst/>
          </a:prstGeom>
          <a:noFill/>
          <a:ln/>
        </p:spPr>
        <p:txBody>
          <a:bodyPr wrap="square" lIns="0" tIns="0" rIns="0" bIns="0" rtlCol="0" anchor="ctr"/>
          <a:lstStyle/>
          <a:p>
            <a:pPr marL="0" indent="0" algn="ctr">
              <a:buNone/>
            </a:pPr>
            <a:r>
              <a:rPr lang="en-US" sz="1100" b="1" kern="0" spc="200" dirty="0">
                <a:solidFill>
                  <a:schemeClr val="tx1"/>
                </a:solidFill>
                <a:latin typeface="Poppins" pitchFamily="34" charset="0"/>
                <a:ea typeface="Poppins" pitchFamily="34" charset="-122"/>
                <a:cs typeface="Poppins" pitchFamily="34" charset="-120"/>
              </a:rPr>
              <a:t>EIGEN FOTO</a:t>
            </a:r>
            <a:endParaRPr lang="en-US" sz="1100" dirty="0"/>
          </a:p>
        </p:txBody>
      </p:sp>
      <p:sp>
        <p:nvSpPr>
          <p:cNvPr id="5" name="Text 0"/>
          <p:cNvSpPr>
            <a:spLocks noGrp="1"/>
          </p:cNvSpPr>
          <p:nvPr>
            <p:ph type="title" idx="100" hasCustomPrompt="1"/>
          </p:nvPr>
        </p:nvSpPr>
        <p:spPr>
          <a:xfrm>
            <a:off x="548640" y="502920"/>
            <a:ext cx="5669280" cy="1371600"/>
          </a:xfrm>
          <a:prstGeom prst="rect">
            <a:avLst/>
          </a:prstGeom>
          <a:noFill/>
          <a:ln/>
        </p:spPr>
        <p:txBody>
          <a:bodyPr wrap="square" lIns="0" tIns="0" rIns="0" bIns="0" rtlCol="0" anchor="t"/>
          <a:lstStyle/>
          <a:p>
            <a:pPr marL="0" indent="0" algn="l">
              <a:buNone/>
            </a:pPr>
            <a:r>
              <a:rPr lang="en-US" sz="4000" b="1" dirty="0">
                <a:solidFill>
                  <a:schemeClr val="bg1"/>
                </a:solidFill>
                <a:latin typeface="Poppins" pitchFamily="34" charset="0"/>
                <a:ea typeface="Poppins" pitchFamily="34" charset="-122"/>
                <a:cs typeface="Poppins" pitchFamily="34" charset="-120"/>
              </a:rPr>
              <a:t>SPORTERS GLIJDEN WEG</a:t>
            </a:r>
            <a:endParaRPr lang="en-US" sz="4000" dirty="0"/>
          </a:p>
        </p:txBody>
      </p:sp>
      <p:sp>
        <p:nvSpPr>
          <p:cNvPr id="6" name="Stat 20–60%"/>
          <p:cNvSpPr txBox="1"/>
          <p:nvPr/>
        </p:nvSpPr>
        <p:spPr>
          <a:xfrm>
            <a:off x="548640" y="2103120"/>
            <a:ext cx="3108960" cy="1097280"/>
          </a:xfrm>
          <a:prstGeom prst="rect">
            <a:avLst/>
          </a:prstGeom>
          <a:noFill/>
          <a:ln/>
        </p:spPr>
        <p:txBody>
          <a:bodyPr wrap="square" lIns="0" tIns="0" rIns="0" bIns="0" rtlCol="0" anchor="ctr"/>
          <a:lstStyle/>
          <a:p>
            <a:pPr marL="0" indent="0">
              <a:buNone/>
            </a:pPr>
            <a:r>
              <a:rPr lang="en-US" sz="4800" b="1" dirty="0">
                <a:solidFill>
                  <a:schemeClr val="accent1"/>
                </a:solidFill>
                <a:latin typeface="Poppins" pitchFamily="34" charset="0"/>
                <a:ea typeface="Poppins" pitchFamily="34" charset="-122"/>
                <a:cs typeface="Poppins" pitchFamily="34" charset="-120"/>
              </a:rPr>
              <a:t>20–60%</a:t>
            </a:r>
            <a:endParaRPr lang="en-US" sz="4800" dirty="0"/>
          </a:p>
        </p:txBody>
      </p:sp>
      <p:sp>
        <p:nvSpPr>
          <p:cNvPr id="7" name="Text 4"/>
          <p:cNvSpPr txBox="1"/>
          <p:nvPr/>
        </p:nvSpPr>
        <p:spPr>
          <a:xfrm>
            <a:off x="3749040" y="2194560"/>
            <a:ext cx="2468880" cy="914400"/>
          </a:xfrm>
          <a:prstGeom prst="rect">
            <a:avLst/>
          </a:prstGeom>
          <a:noFill/>
          <a:ln/>
        </p:spPr>
        <p:txBody>
          <a:bodyPr wrap="square" lIns="0" tIns="0" rIns="0" bIns="0" rtlCol="0" anchor="ctr"/>
          <a:lstStyle/>
          <a:p>
            <a:pPr marL="0" indent="0">
              <a:buNone/>
            </a:pPr>
            <a:r>
              <a:rPr lang="en-US" sz="1400" b="1" kern="0" spc="300" dirty="0">
                <a:solidFill>
                  <a:schemeClr val="bg1"/>
                </a:solidFill>
                <a:latin typeface="Poppins" pitchFamily="34" charset="0"/>
                <a:ea typeface="Poppins" pitchFamily="34" charset="-122"/>
                <a:cs typeface="Poppins" pitchFamily="34" charset="-120"/>
              </a:rPr>
              <a:t>ATLETEN MET BLAREN</a:t>
            </a:r>
            <a:endParaRPr lang="en-US" sz="1400" dirty="0"/>
          </a:p>
        </p:txBody>
      </p:sp>
      <p:sp>
        <p:nvSpPr>
          <p:cNvPr id="8" name="Stat 5,3 MLN"/>
          <p:cNvSpPr txBox="1"/>
          <p:nvPr/>
        </p:nvSpPr>
        <p:spPr>
          <a:xfrm>
            <a:off x="548640" y="3566160"/>
            <a:ext cx="3108960" cy="1097280"/>
          </a:xfrm>
          <a:prstGeom prst="rect">
            <a:avLst/>
          </a:prstGeom>
          <a:noFill/>
          <a:ln/>
        </p:spPr>
        <p:txBody>
          <a:bodyPr wrap="square" lIns="0" tIns="0" rIns="0" bIns="0" rtlCol="0" anchor="ctr"/>
          <a:lstStyle/>
          <a:p>
            <a:pPr marL="0" indent="0">
              <a:buNone/>
            </a:pPr>
            <a:r>
              <a:rPr lang="en-US" sz="4800" b="1" dirty="0">
                <a:solidFill>
                  <a:schemeClr val="accent1"/>
                </a:solidFill>
                <a:latin typeface="Poppins" pitchFamily="34" charset="0"/>
                <a:ea typeface="Poppins" pitchFamily="34" charset="-122"/>
                <a:cs typeface="Poppins" pitchFamily="34" charset="-120"/>
              </a:rPr>
              <a:t>5,3 MLN</a:t>
            </a:r>
            <a:endParaRPr lang="en-US" sz="4800" dirty="0"/>
          </a:p>
        </p:txBody>
      </p:sp>
      <p:sp>
        <p:nvSpPr>
          <p:cNvPr id="9" name="Text 6"/>
          <p:cNvSpPr txBox="1"/>
          <p:nvPr/>
        </p:nvSpPr>
        <p:spPr>
          <a:xfrm>
            <a:off x="3749040" y="3657600"/>
            <a:ext cx="2468880" cy="914400"/>
          </a:xfrm>
          <a:prstGeom prst="rect">
            <a:avLst/>
          </a:prstGeom>
          <a:noFill/>
          <a:ln/>
        </p:spPr>
        <p:txBody>
          <a:bodyPr wrap="square" lIns="0" tIns="0" rIns="0" bIns="0" rtlCol="0" anchor="ctr"/>
          <a:lstStyle/>
          <a:p>
            <a:pPr marL="0" indent="0">
              <a:buNone/>
            </a:pPr>
            <a:r>
              <a:rPr lang="en-US" sz="1400" b="1" kern="0" spc="300" dirty="0">
                <a:solidFill>
                  <a:schemeClr val="bg1"/>
                </a:solidFill>
                <a:latin typeface="Poppins" pitchFamily="34" charset="0"/>
                <a:ea typeface="Poppins" pitchFamily="34" charset="-122"/>
                <a:cs typeface="Poppins" pitchFamily="34" charset="-120"/>
              </a:rPr>
              <a:t>SPORTBLESSURES NL, 2023</a:t>
            </a:r>
            <a:endParaRPr lang="en-US" sz="1400" dirty="0"/>
          </a:p>
        </p:txBody>
      </p:sp>
      <p:sp>
        <p:nvSpPr>
          <p:cNvPr id="10" name="Stat 13%"/>
          <p:cNvSpPr txBox="1"/>
          <p:nvPr/>
        </p:nvSpPr>
        <p:spPr>
          <a:xfrm>
            <a:off x="548640" y="5029200"/>
            <a:ext cx="3108960" cy="1097280"/>
          </a:xfrm>
          <a:prstGeom prst="rect">
            <a:avLst/>
          </a:prstGeom>
          <a:noFill/>
          <a:ln/>
        </p:spPr>
        <p:txBody>
          <a:bodyPr wrap="square" lIns="0" tIns="0" rIns="0" bIns="0" rtlCol="0" anchor="ctr"/>
          <a:lstStyle/>
          <a:p>
            <a:pPr marL="0" indent="0">
              <a:buNone/>
            </a:pPr>
            <a:r>
              <a:rPr lang="en-US" sz="4800" b="1" dirty="0">
                <a:solidFill>
                  <a:schemeClr val="accent1"/>
                </a:solidFill>
                <a:latin typeface="Poppins" pitchFamily="34" charset="0"/>
                <a:ea typeface="Poppins" pitchFamily="34" charset="-122"/>
                <a:cs typeface="Poppins" pitchFamily="34" charset="-120"/>
              </a:rPr>
              <a:t>13%</a:t>
            </a:r>
            <a:endParaRPr lang="en-US" sz="4800" dirty="0"/>
          </a:p>
        </p:txBody>
      </p:sp>
      <p:sp>
        <p:nvSpPr>
          <p:cNvPr id="11" name="Text 8"/>
          <p:cNvSpPr txBox="1"/>
          <p:nvPr/>
        </p:nvSpPr>
        <p:spPr>
          <a:xfrm>
            <a:off x="3749040" y="5120640"/>
            <a:ext cx="2468880" cy="914400"/>
          </a:xfrm>
          <a:prstGeom prst="rect">
            <a:avLst/>
          </a:prstGeom>
          <a:noFill/>
          <a:ln/>
        </p:spPr>
        <p:txBody>
          <a:bodyPr wrap="square" lIns="0" tIns="0" rIns="0" bIns="0" rtlCol="0" anchor="ctr"/>
          <a:lstStyle/>
          <a:p>
            <a:pPr marL="0" indent="0">
              <a:buNone/>
            </a:pPr>
            <a:r>
              <a:rPr lang="en-US" sz="1400" b="1" kern="0" spc="300" dirty="0">
                <a:solidFill>
                  <a:schemeClr val="bg1"/>
                </a:solidFill>
                <a:latin typeface="Poppins" pitchFamily="34" charset="0"/>
                <a:ea typeface="Poppins" pitchFamily="34" charset="-122"/>
                <a:cs typeface="Poppins" pitchFamily="34" charset="-120"/>
              </a:rPr>
              <a:t>VOETBALBLESSURES: ENKEL</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Foto slide-04-oplossing-productfoto-zwart.jpg" descr="Performance Gripsokken 2.0 zwart, productfoto"/>
          <p:cNvPicPr>
            <a:picLocks noChangeAspect="1"/>
          </p:cNvPicPr>
          <p:nvPr/>
        </p:nvPicPr>
        <p:blipFill>
          <a:blip r:embed="rId3"/>
          <a:stretch>
            <a:fillRect/>
          </a:stretch>
        </p:blipFill>
        <p:spPr>
          <a:xfrm>
            <a:off x="6400800" y="0"/>
            <a:ext cx="5788152" cy="6858000"/>
          </a:xfrm>
          <a:prstGeom prst="rect">
            <a:avLst/>
          </a:prstGeom>
        </p:spPr>
      </p:pic>
      <p:sp>
        <p:nvSpPr>
          <p:cNvPr id="3" name="Label foto-type"/>
          <p:cNvSpPr/>
          <p:nvPr/>
        </p:nvSpPr>
        <p:spPr>
          <a:xfrm>
            <a:off x="6629400" y="228600"/>
            <a:ext cx="1600200" cy="329184"/>
          </a:xfrm>
          <a:prstGeom prst="roundRect">
            <a:avLst>
              <a:gd name="adj" fmla="val 50000"/>
            </a:avLst>
          </a:prstGeom>
          <a:solidFill>
            <a:schemeClr val="accent1"/>
          </a:solidFill>
          <a:ln w="6350">
            <a:solidFill>
              <a:schemeClr val="accent1"/>
            </a:solidFill>
            <a:prstDash val="solid"/>
          </a:ln>
        </p:spPr>
        <p:txBody>
          <a:bodyPr/>
          <a:lstStyle/>
          <a:p>
            <a:endParaRPr lang="nl-NL"/>
          </a:p>
        </p:txBody>
      </p:sp>
      <p:sp>
        <p:nvSpPr>
          <p:cNvPr id="4" name="Label tekst"/>
          <p:cNvSpPr txBox="1"/>
          <p:nvPr/>
        </p:nvSpPr>
        <p:spPr>
          <a:xfrm>
            <a:off x="6629400" y="228600"/>
            <a:ext cx="1600200" cy="329184"/>
          </a:xfrm>
          <a:prstGeom prst="rect">
            <a:avLst/>
          </a:prstGeom>
          <a:noFill/>
          <a:ln/>
        </p:spPr>
        <p:txBody>
          <a:bodyPr wrap="square" lIns="0" tIns="0" rIns="0" bIns="0" rtlCol="0" anchor="ctr"/>
          <a:lstStyle/>
          <a:p>
            <a:pPr marL="0" indent="0" algn="ctr">
              <a:buNone/>
            </a:pPr>
            <a:r>
              <a:rPr lang="en-US" sz="1100" b="1" kern="0" spc="200" dirty="0">
                <a:solidFill>
                  <a:schemeClr val="tx1"/>
                </a:solidFill>
                <a:latin typeface="Poppins" pitchFamily="34" charset="0"/>
                <a:ea typeface="Poppins" pitchFamily="34" charset="-122"/>
                <a:cs typeface="Poppins" pitchFamily="34" charset="-120"/>
              </a:rPr>
              <a:t>EIGEN FOTO</a:t>
            </a:r>
            <a:endParaRPr lang="en-US" sz="1100" dirty="0"/>
          </a:p>
        </p:txBody>
      </p:sp>
      <p:sp>
        <p:nvSpPr>
          <p:cNvPr id="5" name="Text 0"/>
          <p:cNvSpPr>
            <a:spLocks noGrp="1"/>
          </p:cNvSpPr>
          <p:nvPr>
            <p:ph type="title" idx="100" hasCustomPrompt="1"/>
          </p:nvPr>
        </p:nvSpPr>
        <p:spPr>
          <a:xfrm>
            <a:off x="548640" y="502920"/>
            <a:ext cx="5669280" cy="1371600"/>
          </a:xfrm>
          <a:prstGeom prst="rect">
            <a:avLst/>
          </a:prstGeom>
          <a:noFill/>
          <a:ln/>
        </p:spPr>
        <p:txBody>
          <a:bodyPr wrap="square" lIns="0" tIns="0" rIns="0" bIns="0" rtlCol="0" anchor="t"/>
          <a:lstStyle/>
          <a:p>
            <a:pPr marL="0" indent="0" algn="l">
              <a:buNone/>
            </a:pPr>
            <a:r>
              <a:rPr lang="en-US" sz="4000" b="1" dirty="0">
                <a:solidFill>
                  <a:schemeClr val="bg1"/>
                </a:solidFill>
                <a:latin typeface="Poppins" pitchFamily="34" charset="0"/>
                <a:ea typeface="Poppins" pitchFamily="34" charset="-122"/>
                <a:cs typeface="Poppins" pitchFamily="34" charset="-120"/>
              </a:rPr>
              <a:t>WIJ GEVEN JE GRIP</a:t>
            </a:r>
            <a:endParaRPr lang="en-US" sz="4000" dirty="0"/>
          </a:p>
        </p:txBody>
      </p:sp>
      <p:sp>
        <p:nvSpPr>
          <p:cNvPr id="6" name="Text 3"/>
          <p:cNvSpPr txBox="1"/>
          <p:nvPr/>
        </p:nvSpPr>
        <p:spPr>
          <a:xfrm>
            <a:off x="548640" y="2286000"/>
            <a:ext cx="731520" cy="365760"/>
          </a:xfrm>
          <a:prstGeom prst="rect">
            <a:avLst/>
          </a:prstGeom>
          <a:noFill/>
          <a:ln/>
        </p:spPr>
        <p:txBody>
          <a:bodyPr wrap="square" lIns="0" tIns="0" rIns="0" bIns="0" rtlCol="0" anchor="t"/>
          <a:lstStyle/>
          <a:p>
            <a:pPr marL="0" indent="0">
              <a:buNone/>
            </a:pPr>
            <a:r>
              <a:rPr lang="en-US" sz="1800" b="1" kern="0" spc="300" dirty="0">
                <a:solidFill>
                  <a:schemeClr val="accent1"/>
                </a:solidFill>
                <a:latin typeface="Poppins" pitchFamily="34" charset="0"/>
                <a:ea typeface="Poppins" pitchFamily="34" charset="-122"/>
                <a:cs typeface="Poppins" pitchFamily="34" charset="-120"/>
              </a:rPr>
              <a:t>01</a:t>
            </a:r>
            <a:endParaRPr lang="en-US" sz="1800" dirty="0"/>
          </a:p>
        </p:txBody>
      </p:sp>
      <p:sp>
        <p:nvSpPr>
          <p:cNvPr id="7" name="Pijler INNOVATIE"/>
          <p:cNvSpPr txBox="1"/>
          <p:nvPr/>
        </p:nvSpPr>
        <p:spPr>
          <a:xfrm>
            <a:off x="1371600" y="2194560"/>
            <a:ext cx="4846320" cy="548640"/>
          </a:xfrm>
          <a:prstGeom prst="rect">
            <a:avLst/>
          </a:prstGeom>
          <a:noFill/>
          <a:ln/>
        </p:spPr>
        <p:txBody>
          <a:bodyPr wrap="square" lIns="0" tIns="0" rIns="0" bIns="0" rtlCol="0" anchor="t"/>
          <a:lstStyle/>
          <a:p>
            <a:pPr marL="0" indent="0">
              <a:buNone/>
            </a:pPr>
            <a:r>
              <a:rPr lang="en-US" sz="2800" b="1" dirty="0">
                <a:solidFill>
                  <a:schemeClr val="bg1"/>
                </a:solidFill>
                <a:latin typeface="Poppins" pitchFamily="34" charset="0"/>
                <a:ea typeface="Poppins" pitchFamily="34" charset="-122"/>
                <a:cs typeface="Poppins" pitchFamily="34" charset="-120"/>
              </a:rPr>
              <a:t>INNOVATIE</a:t>
            </a:r>
            <a:endParaRPr lang="en-US" sz="2800" dirty="0"/>
          </a:p>
        </p:txBody>
      </p:sp>
      <p:sp>
        <p:nvSpPr>
          <p:cNvPr id="8" name="Text 5"/>
          <p:cNvSpPr txBox="1"/>
          <p:nvPr/>
        </p:nvSpPr>
        <p:spPr>
          <a:xfrm>
            <a:off x="1371600" y="2788920"/>
            <a:ext cx="4846320" cy="365760"/>
          </a:xfrm>
          <a:prstGeom prst="rect">
            <a:avLst/>
          </a:prstGeom>
          <a:noFill/>
          <a:ln/>
        </p:spPr>
        <p:txBody>
          <a:bodyPr wrap="square" lIns="0" tIns="0" rIns="0" bIns="0" rtlCol="0" anchor="t"/>
          <a:lstStyle/>
          <a:p>
            <a:pPr marL="0" indent="0">
              <a:buNone/>
            </a:pPr>
            <a:r>
              <a:rPr lang="en-US" sz="1200" b="1" kern="0" spc="300" dirty="0">
                <a:solidFill>
                  <a:schemeClr val="accent5"/>
                </a:solidFill>
                <a:latin typeface="Poppins" pitchFamily="34" charset="0"/>
                <a:ea typeface="Poppins" pitchFamily="34" charset="-122"/>
                <a:cs typeface="Poppins" pitchFamily="34" charset="-120"/>
              </a:rPr>
              <a:t>STILSTAAN IS ACHTERUITGANG</a:t>
            </a:r>
            <a:endParaRPr lang="en-US" sz="1200" dirty="0"/>
          </a:p>
        </p:txBody>
      </p:sp>
      <p:sp>
        <p:nvSpPr>
          <p:cNvPr id="9" name="Text 6"/>
          <p:cNvSpPr txBox="1"/>
          <p:nvPr/>
        </p:nvSpPr>
        <p:spPr>
          <a:xfrm>
            <a:off x="548640" y="3657600"/>
            <a:ext cx="731520" cy="365760"/>
          </a:xfrm>
          <a:prstGeom prst="rect">
            <a:avLst/>
          </a:prstGeom>
          <a:noFill/>
          <a:ln/>
        </p:spPr>
        <p:txBody>
          <a:bodyPr wrap="square" lIns="0" tIns="0" rIns="0" bIns="0" rtlCol="0" anchor="t"/>
          <a:lstStyle/>
          <a:p>
            <a:pPr marL="0" indent="0">
              <a:buNone/>
            </a:pPr>
            <a:r>
              <a:rPr lang="en-US" sz="1800" b="1" kern="0" spc="300" dirty="0">
                <a:solidFill>
                  <a:schemeClr val="accent1"/>
                </a:solidFill>
                <a:latin typeface="Poppins" pitchFamily="34" charset="0"/>
                <a:ea typeface="Poppins" pitchFamily="34" charset="-122"/>
                <a:cs typeface="Poppins" pitchFamily="34" charset="-120"/>
              </a:rPr>
              <a:t>02</a:t>
            </a:r>
            <a:endParaRPr lang="en-US" sz="1800" dirty="0"/>
          </a:p>
        </p:txBody>
      </p:sp>
      <p:sp>
        <p:nvSpPr>
          <p:cNvPr id="10" name="Pijler COMFORT"/>
          <p:cNvSpPr txBox="1"/>
          <p:nvPr/>
        </p:nvSpPr>
        <p:spPr>
          <a:xfrm>
            <a:off x="1371600" y="3566160"/>
            <a:ext cx="4846320" cy="548640"/>
          </a:xfrm>
          <a:prstGeom prst="rect">
            <a:avLst/>
          </a:prstGeom>
          <a:noFill/>
          <a:ln/>
        </p:spPr>
        <p:txBody>
          <a:bodyPr wrap="square" lIns="0" tIns="0" rIns="0" bIns="0" rtlCol="0" anchor="t"/>
          <a:lstStyle/>
          <a:p>
            <a:pPr marL="0" indent="0">
              <a:buNone/>
            </a:pPr>
            <a:r>
              <a:rPr lang="en-US" sz="2800" b="1" dirty="0">
                <a:solidFill>
                  <a:schemeClr val="bg1"/>
                </a:solidFill>
                <a:latin typeface="Poppins" pitchFamily="34" charset="0"/>
                <a:ea typeface="Poppins" pitchFamily="34" charset="-122"/>
                <a:cs typeface="Poppins" pitchFamily="34" charset="-120"/>
              </a:rPr>
              <a:t>COMFORT</a:t>
            </a:r>
            <a:endParaRPr lang="en-US" sz="2800" dirty="0"/>
          </a:p>
        </p:txBody>
      </p:sp>
      <p:sp>
        <p:nvSpPr>
          <p:cNvPr id="11" name="Text 8"/>
          <p:cNvSpPr txBox="1"/>
          <p:nvPr/>
        </p:nvSpPr>
        <p:spPr>
          <a:xfrm>
            <a:off x="1371600" y="4160520"/>
            <a:ext cx="4846320" cy="365760"/>
          </a:xfrm>
          <a:prstGeom prst="rect">
            <a:avLst/>
          </a:prstGeom>
          <a:noFill/>
          <a:ln/>
        </p:spPr>
        <p:txBody>
          <a:bodyPr wrap="square" lIns="0" tIns="0" rIns="0" bIns="0" rtlCol="0" anchor="t"/>
          <a:lstStyle/>
          <a:p>
            <a:pPr marL="0" indent="0">
              <a:buNone/>
            </a:pPr>
            <a:r>
              <a:rPr lang="en-US" sz="1200" b="1" kern="0" spc="300" dirty="0">
                <a:solidFill>
                  <a:schemeClr val="accent5"/>
                </a:solidFill>
                <a:latin typeface="Poppins" pitchFamily="34" charset="0"/>
                <a:ea typeface="Poppins" pitchFamily="34" charset="-122"/>
                <a:cs typeface="Poppins" pitchFamily="34" charset="-120"/>
              </a:rPr>
              <a:t>BLIJF LANGER PRESTEREN</a:t>
            </a:r>
            <a:endParaRPr lang="en-US" sz="1200" dirty="0"/>
          </a:p>
        </p:txBody>
      </p:sp>
      <p:sp>
        <p:nvSpPr>
          <p:cNvPr id="12" name="Text 9"/>
          <p:cNvSpPr txBox="1"/>
          <p:nvPr/>
        </p:nvSpPr>
        <p:spPr>
          <a:xfrm>
            <a:off x="548640" y="5029200"/>
            <a:ext cx="731520" cy="365760"/>
          </a:xfrm>
          <a:prstGeom prst="rect">
            <a:avLst/>
          </a:prstGeom>
          <a:noFill/>
          <a:ln/>
        </p:spPr>
        <p:txBody>
          <a:bodyPr wrap="square" lIns="0" tIns="0" rIns="0" bIns="0" rtlCol="0" anchor="t"/>
          <a:lstStyle/>
          <a:p>
            <a:pPr marL="0" indent="0">
              <a:buNone/>
            </a:pPr>
            <a:r>
              <a:rPr lang="en-US" sz="1800" b="1" kern="0" spc="300" dirty="0">
                <a:solidFill>
                  <a:schemeClr val="accent1"/>
                </a:solidFill>
                <a:latin typeface="Poppins" pitchFamily="34" charset="0"/>
                <a:ea typeface="Poppins" pitchFamily="34" charset="-122"/>
                <a:cs typeface="Poppins" pitchFamily="34" charset="-120"/>
              </a:rPr>
              <a:t>03</a:t>
            </a:r>
            <a:endParaRPr lang="en-US" sz="1800" dirty="0"/>
          </a:p>
        </p:txBody>
      </p:sp>
      <p:sp>
        <p:nvSpPr>
          <p:cNvPr id="13" name="Pijler VERTROUWEN"/>
          <p:cNvSpPr txBox="1"/>
          <p:nvPr/>
        </p:nvSpPr>
        <p:spPr>
          <a:xfrm>
            <a:off x="1371600" y="4937760"/>
            <a:ext cx="4846320" cy="548640"/>
          </a:xfrm>
          <a:prstGeom prst="rect">
            <a:avLst/>
          </a:prstGeom>
          <a:noFill/>
          <a:ln/>
        </p:spPr>
        <p:txBody>
          <a:bodyPr wrap="square" lIns="0" tIns="0" rIns="0" bIns="0" rtlCol="0" anchor="t"/>
          <a:lstStyle/>
          <a:p>
            <a:pPr marL="0" indent="0">
              <a:buNone/>
            </a:pPr>
            <a:r>
              <a:rPr lang="en-US" sz="2800" b="1" dirty="0">
                <a:solidFill>
                  <a:schemeClr val="bg1"/>
                </a:solidFill>
                <a:latin typeface="Poppins" pitchFamily="34" charset="0"/>
                <a:ea typeface="Poppins" pitchFamily="34" charset="-122"/>
                <a:cs typeface="Poppins" pitchFamily="34" charset="-120"/>
              </a:rPr>
              <a:t>VERTROUWEN</a:t>
            </a:r>
            <a:endParaRPr lang="en-US" sz="2800" dirty="0"/>
          </a:p>
        </p:txBody>
      </p:sp>
      <p:sp>
        <p:nvSpPr>
          <p:cNvPr id="14" name="Text 11"/>
          <p:cNvSpPr txBox="1"/>
          <p:nvPr/>
        </p:nvSpPr>
        <p:spPr>
          <a:xfrm>
            <a:off x="1371600" y="5532120"/>
            <a:ext cx="4846320" cy="365760"/>
          </a:xfrm>
          <a:prstGeom prst="rect">
            <a:avLst/>
          </a:prstGeom>
          <a:noFill/>
          <a:ln/>
        </p:spPr>
        <p:txBody>
          <a:bodyPr wrap="square" lIns="0" tIns="0" rIns="0" bIns="0" rtlCol="0" anchor="t"/>
          <a:lstStyle/>
          <a:p>
            <a:pPr marL="0" indent="0">
              <a:buNone/>
            </a:pPr>
            <a:r>
              <a:rPr lang="en-US" sz="1200" b="1" kern="0" spc="300" dirty="0">
                <a:solidFill>
                  <a:schemeClr val="accent5"/>
                </a:solidFill>
                <a:latin typeface="Poppins" pitchFamily="34" charset="0"/>
                <a:ea typeface="Poppins" pitchFamily="34" charset="-122"/>
                <a:cs typeface="Poppins" pitchFamily="34" charset="-120"/>
              </a:rPr>
              <a:t>IN JE MATERIAAL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02920"/>
            <a:ext cx="11064240" cy="1097280"/>
          </a:xfrm>
          <a:prstGeom prst="rect">
            <a:avLst/>
          </a:prstGeom>
          <a:noFill/>
          <a:ln/>
        </p:spPr>
        <p:txBody>
          <a:bodyPr wrap="square" lIns="0" tIns="0" rIns="0" bIns="0" rtlCol="0" anchor="t"/>
          <a:lstStyle/>
          <a:p>
            <a:pPr marL="0" indent="0" algn="l">
              <a:buNone/>
            </a:pPr>
            <a:r>
              <a:rPr lang="en-US" sz="4400" b="1" dirty="0">
                <a:solidFill>
                  <a:schemeClr val="tx1"/>
                </a:solidFill>
                <a:latin typeface="Poppins" pitchFamily="34" charset="0"/>
                <a:ea typeface="Poppins" pitchFamily="34" charset="-122"/>
                <a:cs typeface="Poppins" pitchFamily="34" charset="-120"/>
              </a:rPr>
              <a:t>BEWEZEN: 95% MEER GRIP</a:t>
            </a:r>
            <a:endParaRPr lang="en-US" sz="4400" dirty="0"/>
          </a:p>
        </p:txBody>
      </p:sp>
      <p:sp>
        <p:nvSpPr>
          <p:cNvPr id="3" name="Stat 0,60"/>
          <p:cNvSpPr txBox="1"/>
          <p:nvPr/>
        </p:nvSpPr>
        <p:spPr>
          <a:xfrm>
            <a:off x="548640" y="2194560"/>
            <a:ext cx="3474720" cy="1554480"/>
          </a:xfrm>
          <a:prstGeom prst="rect">
            <a:avLst/>
          </a:prstGeom>
          <a:noFill/>
          <a:ln/>
        </p:spPr>
        <p:txBody>
          <a:bodyPr wrap="square" lIns="0" tIns="0" rIns="0" bIns="0" rtlCol="0" anchor="b"/>
          <a:lstStyle/>
          <a:p>
            <a:pPr marL="0" indent="0">
              <a:buNone/>
            </a:pPr>
            <a:r>
              <a:rPr lang="en-US" sz="8000" b="1" dirty="0">
                <a:solidFill>
                  <a:schemeClr val="tx1"/>
                </a:solidFill>
                <a:latin typeface="Poppins" pitchFamily="34" charset="0"/>
                <a:ea typeface="Poppins" pitchFamily="34" charset="-122"/>
                <a:cs typeface="Poppins" pitchFamily="34" charset="-120"/>
              </a:rPr>
              <a:t>0,60</a:t>
            </a:r>
            <a:endParaRPr lang="en-US" sz="8000" dirty="0"/>
          </a:p>
        </p:txBody>
      </p:sp>
      <p:sp>
        <p:nvSpPr>
          <p:cNvPr id="4" name="Label 0,60"/>
          <p:cNvSpPr txBox="1"/>
          <p:nvPr/>
        </p:nvSpPr>
        <p:spPr>
          <a:xfrm>
            <a:off x="548640" y="3794760"/>
            <a:ext cx="3474720" cy="640080"/>
          </a:xfrm>
          <a:prstGeom prst="rect">
            <a:avLst/>
          </a:prstGeom>
          <a:noFill/>
          <a:ln/>
        </p:spPr>
        <p:txBody>
          <a:bodyPr wrap="square" lIns="0" tIns="0" rIns="0" bIns="0" rtlCol="0" anchor="t"/>
          <a:lstStyle/>
          <a:p>
            <a:pPr marL="0" indent="0">
              <a:buNone/>
            </a:pPr>
            <a:r>
              <a:rPr lang="en-US" sz="1400" b="1" kern="0" spc="300" dirty="0">
                <a:solidFill>
                  <a:schemeClr val="tx1"/>
                </a:solidFill>
                <a:latin typeface="Poppins" pitchFamily="34" charset="0"/>
                <a:ea typeface="Poppins" pitchFamily="34" charset="-122"/>
                <a:cs typeface="Poppins" pitchFamily="34" charset="-120"/>
              </a:rPr>
              <a:t>GEWONE SOKKEN</a:t>
            </a:r>
            <a:endParaRPr lang="en-US" sz="1400" dirty="0"/>
          </a:p>
        </p:txBody>
      </p:sp>
      <p:sp>
        <p:nvSpPr>
          <p:cNvPr id="5" name="Stat 1,17"/>
          <p:cNvSpPr txBox="1"/>
          <p:nvPr/>
        </p:nvSpPr>
        <p:spPr>
          <a:xfrm>
            <a:off x="4297680" y="2194560"/>
            <a:ext cx="3474720" cy="1554480"/>
          </a:xfrm>
          <a:prstGeom prst="rect">
            <a:avLst/>
          </a:prstGeom>
          <a:noFill/>
          <a:ln/>
        </p:spPr>
        <p:txBody>
          <a:bodyPr wrap="square" lIns="0" tIns="0" rIns="0" bIns="0" rtlCol="0" anchor="b"/>
          <a:lstStyle/>
          <a:p>
            <a:pPr marL="0" indent="0">
              <a:buNone/>
            </a:pPr>
            <a:r>
              <a:rPr lang="en-US" sz="8000" b="1" dirty="0">
                <a:solidFill>
                  <a:schemeClr val="tx1"/>
                </a:solidFill>
                <a:latin typeface="Poppins" pitchFamily="34" charset="0"/>
                <a:ea typeface="Poppins" pitchFamily="34" charset="-122"/>
                <a:cs typeface="Poppins" pitchFamily="34" charset="-120"/>
              </a:rPr>
              <a:t>1,17</a:t>
            </a:r>
            <a:endParaRPr lang="en-US" sz="8000" dirty="0"/>
          </a:p>
        </p:txBody>
      </p:sp>
      <p:sp>
        <p:nvSpPr>
          <p:cNvPr id="6" name="Label 1,17"/>
          <p:cNvSpPr txBox="1"/>
          <p:nvPr/>
        </p:nvSpPr>
        <p:spPr>
          <a:xfrm>
            <a:off x="4297680" y="3794760"/>
            <a:ext cx="3474720" cy="640080"/>
          </a:xfrm>
          <a:prstGeom prst="rect">
            <a:avLst/>
          </a:prstGeom>
          <a:noFill/>
          <a:ln/>
        </p:spPr>
        <p:txBody>
          <a:bodyPr wrap="square" lIns="0" tIns="0" rIns="0" bIns="0" rtlCol="0" anchor="t"/>
          <a:lstStyle/>
          <a:p>
            <a:pPr marL="0" indent="0">
              <a:buNone/>
            </a:pPr>
            <a:r>
              <a:rPr lang="en-US" sz="1400" b="1" kern="0" spc="300" dirty="0">
                <a:solidFill>
                  <a:schemeClr val="tx1"/>
                </a:solidFill>
                <a:latin typeface="Poppins" pitchFamily="34" charset="0"/>
                <a:ea typeface="Poppins" pitchFamily="34" charset="-122"/>
                <a:cs typeface="Poppins" pitchFamily="34" charset="-120"/>
              </a:rPr>
              <a:t>GRIPSOKKEN</a:t>
            </a:r>
            <a:endParaRPr lang="en-US" sz="1400" dirty="0"/>
          </a:p>
        </p:txBody>
      </p:sp>
      <p:sp>
        <p:nvSpPr>
          <p:cNvPr id="7" name="Stat +95%"/>
          <p:cNvSpPr txBox="1"/>
          <p:nvPr/>
        </p:nvSpPr>
        <p:spPr>
          <a:xfrm>
            <a:off x="8046720" y="2194560"/>
            <a:ext cx="3474720" cy="1554480"/>
          </a:xfrm>
          <a:prstGeom prst="rect">
            <a:avLst/>
          </a:prstGeom>
          <a:noFill/>
          <a:ln/>
        </p:spPr>
        <p:txBody>
          <a:bodyPr wrap="square" lIns="0" tIns="0" rIns="0" bIns="0" rtlCol="0" anchor="b"/>
          <a:lstStyle/>
          <a:p>
            <a:pPr marL="0" indent="0">
              <a:buNone/>
            </a:pPr>
            <a:r>
              <a:rPr lang="en-US" sz="8000" b="1" dirty="0">
                <a:solidFill>
                  <a:schemeClr val="tx1"/>
                </a:solidFill>
                <a:latin typeface="Poppins" pitchFamily="34" charset="0"/>
                <a:ea typeface="Poppins" pitchFamily="34" charset="-122"/>
                <a:cs typeface="Poppins" pitchFamily="34" charset="-120"/>
              </a:rPr>
              <a:t>+95%</a:t>
            </a:r>
            <a:endParaRPr lang="en-US" sz="8000" dirty="0"/>
          </a:p>
        </p:txBody>
      </p:sp>
      <p:sp>
        <p:nvSpPr>
          <p:cNvPr id="8" name="Label +95%"/>
          <p:cNvSpPr txBox="1"/>
          <p:nvPr/>
        </p:nvSpPr>
        <p:spPr>
          <a:xfrm>
            <a:off x="8046720" y="3794760"/>
            <a:ext cx="3474720" cy="640080"/>
          </a:xfrm>
          <a:prstGeom prst="rect">
            <a:avLst/>
          </a:prstGeom>
          <a:noFill/>
          <a:ln/>
        </p:spPr>
        <p:txBody>
          <a:bodyPr wrap="square" lIns="0" tIns="0" rIns="0" bIns="0" rtlCol="0" anchor="t"/>
          <a:lstStyle/>
          <a:p>
            <a:pPr marL="0" indent="0">
              <a:buNone/>
            </a:pPr>
            <a:r>
              <a:rPr lang="en-US" sz="1400" b="1" kern="0" spc="300" dirty="0">
                <a:solidFill>
                  <a:schemeClr val="tx1"/>
                </a:solidFill>
                <a:latin typeface="Poppins" pitchFamily="34" charset="0"/>
                <a:ea typeface="Poppins" pitchFamily="34" charset="-122"/>
                <a:cs typeface="Poppins" pitchFamily="34" charset="-120"/>
              </a:rPr>
              <a:t>MEER GRIP</a:t>
            </a:r>
            <a:endParaRPr lang="en-US" sz="1400" dirty="0"/>
          </a:p>
        </p:txBody>
      </p:sp>
      <p:sp>
        <p:nvSpPr>
          <p:cNvPr id="9" name="Bronregel"/>
          <p:cNvSpPr txBox="1"/>
          <p:nvPr/>
        </p:nvSpPr>
        <p:spPr>
          <a:xfrm>
            <a:off x="548640" y="5760720"/>
            <a:ext cx="11064240" cy="548640"/>
          </a:xfrm>
          <a:prstGeom prst="rect">
            <a:avLst/>
          </a:prstGeom>
          <a:noFill/>
          <a:ln/>
        </p:spPr>
        <p:txBody>
          <a:bodyPr wrap="square" lIns="0" tIns="0" rIns="0" bIns="0" rtlCol="0" anchor="t"/>
          <a:lstStyle/>
          <a:p>
            <a:pPr marL="0" indent="0">
              <a:buNone/>
            </a:pPr>
            <a:r>
              <a:rPr lang="en-US" sz="1200" dirty="0">
                <a:solidFill>
                  <a:schemeClr val="tx1"/>
                </a:solidFill>
                <a:latin typeface="Poppins" pitchFamily="34" charset="0"/>
                <a:ea typeface="Poppins" pitchFamily="34" charset="-122"/>
                <a:cs typeface="Poppins" pitchFamily="34" charset="-120"/>
              </a:rPr>
              <a:t>Wetenschappelijk aangetoond: gripsokken verhogen de statische wrijvingscoëfficiënt van 0,60 naar 1,17 (Apps et al. 2022, Journal of Sports Sciences).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02920"/>
            <a:ext cx="11064240" cy="1097280"/>
          </a:xfrm>
          <a:prstGeom prst="rect">
            <a:avLst/>
          </a:prstGeom>
          <a:noFill/>
          <a:ln/>
        </p:spPr>
        <p:txBody>
          <a:bodyPr wrap="square" lIns="0" tIns="0" rIns="0" bIns="0" rtlCol="0" anchor="t"/>
          <a:lstStyle/>
          <a:p>
            <a:pPr marL="0" indent="0" algn="l">
              <a:buNone/>
            </a:pPr>
            <a:r>
              <a:rPr lang="en-US" sz="4400" b="1" dirty="0">
                <a:solidFill>
                  <a:schemeClr val="bg1"/>
                </a:solidFill>
                <a:latin typeface="Poppins" pitchFamily="34" charset="0"/>
                <a:ea typeface="Poppins" pitchFamily="34" charset="-122"/>
                <a:cs typeface="Poppins" pitchFamily="34" charset="-120"/>
              </a:rPr>
              <a:t>DE TRACTIE IS ER AL</a:t>
            </a:r>
            <a:endParaRPr lang="en-US" sz="4400" dirty="0"/>
          </a:p>
        </p:txBody>
      </p:sp>
      <p:sp>
        <p:nvSpPr>
          <p:cNvPr id="3" name="Stat 3000+"/>
          <p:cNvSpPr txBox="1"/>
          <p:nvPr/>
        </p:nvSpPr>
        <p:spPr>
          <a:xfrm>
            <a:off x="548640" y="1737360"/>
            <a:ext cx="3474720" cy="1188720"/>
          </a:xfrm>
          <a:prstGeom prst="rect">
            <a:avLst/>
          </a:prstGeom>
          <a:noFill/>
          <a:ln/>
        </p:spPr>
        <p:txBody>
          <a:bodyPr wrap="square" lIns="0" tIns="0" rIns="0" bIns="0" rtlCol="0" anchor="b"/>
          <a:lstStyle/>
          <a:p>
            <a:pPr marL="0" indent="0">
              <a:buNone/>
            </a:pPr>
            <a:r>
              <a:rPr lang="en-US" sz="5000" b="1" dirty="0">
                <a:solidFill>
                  <a:schemeClr val="accent1"/>
                </a:solidFill>
                <a:latin typeface="Poppins" pitchFamily="34" charset="0"/>
                <a:ea typeface="Poppins" pitchFamily="34" charset="-122"/>
                <a:cs typeface="Poppins" pitchFamily="34" charset="-120"/>
              </a:rPr>
              <a:t>3000+</a:t>
            </a:r>
            <a:endParaRPr lang="en-US" sz="5000" dirty="0"/>
          </a:p>
        </p:txBody>
      </p:sp>
      <p:sp>
        <p:nvSpPr>
          <p:cNvPr id="4" name="Label 3000+"/>
          <p:cNvSpPr txBox="1"/>
          <p:nvPr/>
        </p:nvSpPr>
        <p:spPr>
          <a:xfrm>
            <a:off x="548640" y="2971800"/>
            <a:ext cx="3474720" cy="640080"/>
          </a:xfrm>
          <a:prstGeom prst="rect">
            <a:avLst/>
          </a:prstGeom>
          <a:noFill/>
          <a:ln/>
        </p:spPr>
        <p:txBody>
          <a:bodyPr wrap="square" lIns="0" tIns="0" rIns="0" bIns="0" rtlCol="0" anchor="t"/>
          <a:lstStyle/>
          <a:p>
            <a:pPr marL="0" indent="0">
              <a:buNone/>
            </a:pPr>
            <a:r>
              <a:rPr lang="en-US" sz="1400" b="1" kern="0" spc="300" dirty="0">
                <a:solidFill>
                  <a:schemeClr val="bg1"/>
                </a:solidFill>
                <a:latin typeface="Poppins" pitchFamily="34" charset="0"/>
                <a:ea typeface="Poppins" pitchFamily="34" charset="-122"/>
                <a:cs typeface="Poppins" pitchFamily="34" charset="-120"/>
              </a:rPr>
              <a:t>SPORTERS DRAGEN HÏ GRIP</a:t>
            </a:r>
            <a:endParaRPr lang="en-US" sz="1400" dirty="0"/>
          </a:p>
        </p:txBody>
      </p:sp>
      <p:sp>
        <p:nvSpPr>
          <p:cNvPr id="5" name="Stat 10+"/>
          <p:cNvSpPr txBox="1"/>
          <p:nvPr/>
        </p:nvSpPr>
        <p:spPr>
          <a:xfrm>
            <a:off x="4297680" y="1737360"/>
            <a:ext cx="3474720" cy="1188720"/>
          </a:xfrm>
          <a:prstGeom prst="rect">
            <a:avLst/>
          </a:prstGeom>
          <a:noFill/>
          <a:ln/>
        </p:spPr>
        <p:txBody>
          <a:bodyPr wrap="square" lIns="0" tIns="0" rIns="0" bIns="0" rtlCol="0" anchor="b"/>
          <a:lstStyle/>
          <a:p>
            <a:pPr marL="0" indent="0">
              <a:buNone/>
            </a:pPr>
            <a:r>
              <a:rPr lang="en-US" sz="5000" b="1" dirty="0">
                <a:solidFill>
                  <a:schemeClr val="accent1"/>
                </a:solidFill>
                <a:latin typeface="Poppins" pitchFamily="34" charset="0"/>
                <a:ea typeface="Poppins" pitchFamily="34" charset="-122"/>
                <a:cs typeface="Poppins" pitchFamily="34" charset="-120"/>
              </a:rPr>
              <a:t>10+</a:t>
            </a:r>
            <a:endParaRPr lang="en-US" sz="5000" dirty="0"/>
          </a:p>
        </p:txBody>
      </p:sp>
      <p:sp>
        <p:nvSpPr>
          <p:cNvPr id="6" name="Label 10+"/>
          <p:cNvSpPr txBox="1"/>
          <p:nvPr/>
        </p:nvSpPr>
        <p:spPr>
          <a:xfrm>
            <a:off x="4297680" y="2971800"/>
            <a:ext cx="3474720" cy="640080"/>
          </a:xfrm>
          <a:prstGeom prst="rect">
            <a:avLst/>
          </a:prstGeom>
          <a:noFill/>
          <a:ln/>
        </p:spPr>
        <p:txBody>
          <a:bodyPr wrap="square" lIns="0" tIns="0" rIns="0" bIns="0" rtlCol="0" anchor="t"/>
          <a:lstStyle/>
          <a:p>
            <a:pPr marL="0" indent="0">
              <a:buNone/>
            </a:pPr>
            <a:r>
              <a:rPr lang="en-US" sz="1400" b="1" kern="0" spc="300" dirty="0">
                <a:solidFill>
                  <a:schemeClr val="bg1"/>
                </a:solidFill>
                <a:latin typeface="Poppins" pitchFamily="34" charset="0"/>
                <a:ea typeface="Poppins" pitchFamily="34" charset="-122"/>
                <a:cs typeface="Poppins" pitchFamily="34" charset="-120"/>
              </a:rPr>
              <a:t>B2B PARTNERS</a:t>
            </a:r>
            <a:endParaRPr lang="en-US" sz="1400" dirty="0"/>
          </a:p>
        </p:txBody>
      </p:sp>
      <p:sp>
        <p:nvSpPr>
          <p:cNvPr id="7" name="Stat €22.000+"/>
          <p:cNvSpPr txBox="1"/>
          <p:nvPr/>
        </p:nvSpPr>
        <p:spPr>
          <a:xfrm>
            <a:off x="8046720" y="1737360"/>
            <a:ext cx="3474720" cy="1188720"/>
          </a:xfrm>
          <a:prstGeom prst="rect">
            <a:avLst/>
          </a:prstGeom>
          <a:noFill/>
          <a:ln/>
        </p:spPr>
        <p:txBody>
          <a:bodyPr wrap="square" lIns="0" tIns="0" rIns="0" bIns="0" rtlCol="0" anchor="b"/>
          <a:lstStyle/>
          <a:p>
            <a:pPr marL="0" indent="0">
              <a:buNone/>
            </a:pPr>
            <a:r>
              <a:rPr lang="en-US" sz="5000" b="1" dirty="0">
                <a:solidFill>
                  <a:schemeClr val="accent1"/>
                </a:solidFill>
                <a:latin typeface="Poppins" pitchFamily="34" charset="0"/>
                <a:ea typeface="Poppins" pitchFamily="34" charset="-122"/>
                <a:cs typeface="Poppins" pitchFamily="34" charset="-120"/>
              </a:rPr>
              <a:t>€22.000+</a:t>
            </a:r>
            <a:endParaRPr lang="en-US" sz="5000" dirty="0"/>
          </a:p>
        </p:txBody>
      </p:sp>
      <p:sp>
        <p:nvSpPr>
          <p:cNvPr id="8" name="Label €22.000+"/>
          <p:cNvSpPr txBox="1"/>
          <p:nvPr/>
        </p:nvSpPr>
        <p:spPr>
          <a:xfrm>
            <a:off x="8046720" y="2971800"/>
            <a:ext cx="3474720" cy="640080"/>
          </a:xfrm>
          <a:prstGeom prst="rect">
            <a:avLst/>
          </a:prstGeom>
          <a:noFill/>
          <a:ln/>
        </p:spPr>
        <p:txBody>
          <a:bodyPr wrap="square" lIns="0" tIns="0" rIns="0" bIns="0" rtlCol="0" anchor="t"/>
          <a:lstStyle/>
          <a:p>
            <a:pPr marL="0" indent="0">
              <a:buNone/>
            </a:pPr>
            <a:r>
              <a:rPr lang="en-US" sz="1400" b="1" kern="0" spc="300" dirty="0">
                <a:solidFill>
                  <a:schemeClr val="bg1"/>
                </a:solidFill>
                <a:latin typeface="Poppins" pitchFamily="34" charset="0"/>
                <a:ea typeface="Poppins" pitchFamily="34" charset="-122"/>
                <a:cs typeface="Poppins" pitchFamily="34" charset="-120"/>
              </a:rPr>
              <a:t>OMZET</a:t>
            </a:r>
            <a:endParaRPr lang="en-US" sz="1400" dirty="0"/>
          </a:p>
        </p:txBody>
      </p:sp>
      <p:sp>
        <p:nvSpPr>
          <p:cNvPr id="9" name="Foto placeholder"/>
          <p:cNvSpPr/>
          <p:nvPr/>
        </p:nvSpPr>
        <p:spPr>
          <a:xfrm>
            <a:off x="0" y="4526280"/>
            <a:ext cx="12188952" cy="2331720"/>
          </a:xfrm>
          <a:prstGeom prst="rect">
            <a:avLst/>
          </a:prstGeom>
          <a:solidFill>
            <a:schemeClr val="accent6">
              <a:alpha val="65000"/>
            </a:schemeClr>
          </a:solidFill>
          <a:ln w="12700">
            <a:solidFill>
              <a:schemeClr val="accent5"/>
            </a:solidFill>
            <a:prstDash val="dash"/>
          </a:ln>
        </p:spPr>
        <p:txBody>
          <a:bodyPr/>
          <a:lstStyle/>
          <a:p>
            <a:endParaRPr lang="nl-NL"/>
          </a:p>
        </p:txBody>
      </p:sp>
      <p:sp>
        <p:nvSpPr>
          <p:cNvPr id="10" name="Fotobeschrijving"/>
          <p:cNvSpPr txBox="1"/>
          <p:nvPr/>
        </p:nvSpPr>
        <p:spPr>
          <a:xfrm>
            <a:off x="274320" y="4983480"/>
            <a:ext cx="11640312" cy="1417320"/>
          </a:xfrm>
          <a:prstGeom prst="rect">
            <a:avLst/>
          </a:prstGeom>
          <a:noFill/>
          <a:ln/>
        </p:spPr>
        <p:txBody>
          <a:bodyPr wrap="square" lIns="0" tIns="0" rIns="0" bIns="0" rtlCol="0" anchor="ctr"/>
          <a:lstStyle/>
          <a:p>
            <a:pPr marL="0" indent="0" algn="ctr">
              <a:buNone/>
            </a:pPr>
            <a:r>
              <a:rPr lang="en-US" sz="1400" i="1" dirty="0">
                <a:solidFill>
                  <a:schemeClr val="bg2"/>
                </a:solidFill>
                <a:latin typeface="Poppins" pitchFamily="34" charset="0"/>
                <a:ea typeface="Poppins" pitchFamily="34" charset="-122"/>
                <a:cs typeface="Poppins" pitchFamily="34" charset="-120"/>
              </a:rPr>
              <a:t>Schermafbeeldingen van Instagram- en TikTok-posts van klanten en sporters die HÏ Grip dragen</a:t>
            </a:r>
            <a:endParaRPr lang="en-US" sz="1400" dirty="0"/>
          </a:p>
        </p:txBody>
      </p:sp>
      <p:sp>
        <p:nvSpPr>
          <p:cNvPr id="11" name="Label foto-type"/>
          <p:cNvSpPr/>
          <p:nvPr/>
        </p:nvSpPr>
        <p:spPr>
          <a:xfrm>
            <a:off x="228600" y="4754880"/>
            <a:ext cx="1600200" cy="329184"/>
          </a:xfrm>
          <a:prstGeom prst="roundRect">
            <a:avLst>
              <a:gd name="adj" fmla="val 50000"/>
            </a:avLst>
          </a:prstGeom>
          <a:solidFill>
            <a:schemeClr val="accent1"/>
          </a:solidFill>
          <a:ln w="6350">
            <a:solidFill>
              <a:schemeClr val="accent1"/>
            </a:solidFill>
            <a:prstDash val="solid"/>
          </a:ln>
        </p:spPr>
        <p:txBody>
          <a:bodyPr/>
          <a:lstStyle/>
          <a:p>
            <a:endParaRPr lang="nl-NL"/>
          </a:p>
        </p:txBody>
      </p:sp>
      <p:sp>
        <p:nvSpPr>
          <p:cNvPr id="12" name="Label tekst"/>
          <p:cNvSpPr txBox="1"/>
          <p:nvPr/>
        </p:nvSpPr>
        <p:spPr>
          <a:xfrm>
            <a:off x="228600" y="4754880"/>
            <a:ext cx="1600200" cy="329184"/>
          </a:xfrm>
          <a:prstGeom prst="rect">
            <a:avLst/>
          </a:prstGeom>
          <a:noFill/>
          <a:ln/>
        </p:spPr>
        <p:txBody>
          <a:bodyPr wrap="square" lIns="0" tIns="0" rIns="0" bIns="0" rtlCol="0" anchor="ctr"/>
          <a:lstStyle/>
          <a:p>
            <a:pPr marL="0" indent="0" algn="ctr">
              <a:buNone/>
            </a:pPr>
            <a:r>
              <a:rPr lang="en-US" sz="1100" b="1" kern="0" spc="200" dirty="0">
                <a:solidFill>
                  <a:schemeClr val="tx1"/>
                </a:solidFill>
                <a:latin typeface="Poppins" pitchFamily="34" charset="0"/>
                <a:ea typeface="Poppins" pitchFamily="34" charset="-122"/>
                <a:cs typeface="Poppins" pitchFamily="34" charset="-120"/>
              </a:rPr>
              <a:t>EIGEN FOTO</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02920"/>
            <a:ext cx="11064240" cy="1097280"/>
          </a:xfrm>
          <a:prstGeom prst="rect">
            <a:avLst/>
          </a:prstGeom>
          <a:noFill/>
          <a:ln/>
        </p:spPr>
        <p:txBody>
          <a:bodyPr wrap="square" lIns="0" tIns="0" rIns="0" bIns="0" rtlCol="0" anchor="t"/>
          <a:lstStyle/>
          <a:p>
            <a:pPr marL="0" indent="0" algn="l">
              <a:buNone/>
            </a:pPr>
            <a:r>
              <a:rPr lang="en-US" sz="4400" b="1" dirty="0">
                <a:solidFill>
                  <a:schemeClr val="tx1"/>
                </a:solidFill>
                <a:latin typeface="Poppins" pitchFamily="34" charset="0"/>
                <a:ea typeface="Poppins" pitchFamily="34" charset="-122"/>
                <a:cs typeface="Poppins" pitchFamily="34" charset="-120"/>
              </a:rPr>
              <a:t>ZE DRAGEN ONS AL</a:t>
            </a:r>
            <a:endParaRPr lang="en-US" sz="4400" dirty="0"/>
          </a:p>
        </p:txBody>
      </p:sp>
      <p:pic>
        <p:nvPicPr>
          <p:cNvPr id="3" name="Foto slide-07-retail-product-zwarte-achtergrond.jpg" descr="Productfoto gripsok, zwarte achtergrond"/>
          <p:cNvPicPr>
            <a:picLocks noChangeAspect="1"/>
          </p:cNvPicPr>
          <p:nvPr/>
        </p:nvPicPr>
        <p:blipFill>
          <a:blip r:embed="rId3"/>
          <a:stretch>
            <a:fillRect/>
          </a:stretch>
        </p:blipFill>
        <p:spPr>
          <a:xfrm>
            <a:off x="548640" y="1783080"/>
            <a:ext cx="3520440" cy="3566160"/>
          </a:xfrm>
          <a:prstGeom prst="rect">
            <a:avLst/>
          </a:prstGeom>
        </p:spPr>
      </p:pic>
      <p:sp>
        <p:nvSpPr>
          <p:cNvPr id="4" name="Label foto-type"/>
          <p:cNvSpPr/>
          <p:nvPr/>
        </p:nvSpPr>
        <p:spPr>
          <a:xfrm>
            <a:off x="777240" y="2011680"/>
            <a:ext cx="1600200" cy="329184"/>
          </a:xfrm>
          <a:prstGeom prst="roundRect">
            <a:avLst>
              <a:gd name="adj" fmla="val 50000"/>
            </a:avLst>
          </a:prstGeom>
          <a:solidFill>
            <a:schemeClr val="accent1"/>
          </a:solidFill>
          <a:ln w="6350">
            <a:solidFill>
              <a:schemeClr val="accent1"/>
            </a:solidFill>
            <a:prstDash val="solid"/>
          </a:ln>
        </p:spPr>
        <p:txBody>
          <a:bodyPr/>
          <a:lstStyle/>
          <a:p>
            <a:endParaRPr lang="nl-NL"/>
          </a:p>
        </p:txBody>
      </p:sp>
      <p:sp>
        <p:nvSpPr>
          <p:cNvPr id="5" name="Label tekst"/>
          <p:cNvSpPr txBox="1"/>
          <p:nvPr/>
        </p:nvSpPr>
        <p:spPr>
          <a:xfrm>
            <a:off x="777240" y="2011680"/>
            <a:ext cx="1600200" cy="329184"/>
          </a:xfrm>
          <a:prstGeom prst="rect">
            <a:avLst/>
          </a:prstGeom>
          <a:noFill/>
          <a:ln/>
        </p:spPr>
        <p:txBody>
          <a:bodyPr wrap="square" lIns="0" tIns="0" rIns="0" bIns="0" rtlCol="0" anchor="ctr"/>
          <a:lstStyle/>
          <a:p>
            <a:pPr marL="0" indent="0" algn="ctr">
              <a:buNone/>
            </a:pPr>
            <a:r>
              <a:rPr lang="en-US" sz="1100" b="1" kern="0" spc="200" dirty="0">
                <a:solidFill>
                  <a:schemeClr val="tx1"/>
                </a:solidFill>
                <a:latin typeface="Poppins" pitchFamily="34" charset="0"/>
                <a:ea typeface="Poppins" pitchFamily="34" charset="-122"/>
                <a:cs typeface="Poppins" pitchFamily="34" charset="-120"/>
              </a:rPr>
              <a:t>EIGEN FOTO</a:t>
            </a:r>
            <a:endParaRPr lang="en-US" sz="1100" dirty="0"/>
          </a:p>
        </p:txBody>
      </p:sp>
      <p:sp>
        <p:nvSpPr>
          <p:cNvPr id="6" name="Text 3"/>
          <p:cNvSpPr txBox="1"/>
          <p:nvPr/>
        </p:nvSpPr>
        <p:spPr>
          <a:xfrm>
            <a:off x="548640" y="5532120"/>
            <a:ext cx="3520440" cy="365760"/>
          </a:xfrm>
          <a:prstGeom prst="rect">
            <a:avLst/>
          </a:prstGeom>
          <a:noFill/>
          <a:ln/>
        </p:spPr>
        <p:txBody>
          <a:bodyPr wrap="square" lIns="0" tIns="0" rIns="0" bIns="0" rtlCol="0" anchor="t"/>
          <a:lstStyle/>
          <a:p>
            <a:pPr marL="0" indent="0">
              <a:buNone/>
            </a:pPr>
            <a:r>
              <a:rPr lang="en-US" sz="1400" b="1" kern="0" spc="300" dirty="0">
                <a:solidFill>
                  <a:schemeClr val="accent6"/>
                </a:solidFill>
                <a:latin typeface="Poppins" pitchFamily="34" charset="0"/>
                <a:ea typeface="Poppins" pitchFamily="34" charset="-122"/>
                <a:cs typeface="Poppins" pitchFamily="34" charset="-120"/>
              </a:rPr>
              <a:t>RETAIL</a:t>
            </a:r>
            <a:endParaRPr lang="en-US" sz="1400" dirty="0"/>
          </a:p>
        </p:txBody>
      </p:sp>
      <p:sp>
        <p:nvSpPr>
          <p:cNvPr id="7" name="Partner RETAIL"/>
          <p:cNvSpPr txBox="1"/>
          <p:nvPr/>
        </p:nvSpPr>
        <p:spPr>
          <a:xfrm>
            <a:off x="548640" y="5852160"/>
            <a:ext cx="3520440" cy="548640"/>
          </a:xfrm>
          <a:prstGeom prst="rect">
            <a:avLst/>
          </a:prstGeom>
          <a:noFill/>
          <a:ln/>
        </p:spPr>
        <p:txBody>
          <a:bodyPr wrap="square" lIns="0" tIns="0" rIns="0" bIns="0" rtlCol="0" anchor="t"/>
          <a:lstStyle/>
          <a:p>
            <a:pPr marL="0" indent="0">
              <a:buNone/>
            </a:pPr>
            <a:r>
              <a:rPr lang="en-US" sz="2000" b="1" dirty="0">
                <a:solidFill>
                  <a:schemeClr val="tx1"/>
                </a:solidFill>
                <a:latin typeface="Poppins" pitchFamily="34" charset="0"/>
                <a:ea typeface="Poppins" pitchFamily="34" charset="-122"/>
                <a:cs typeface="Poppins" pitchFamily="34" charset="-120"/>
              </a:rPr>
              <a:t>Sport2000</a:t>
            </a:r>
            <a:endParaRPr lang="en-US" sz="2000" dirty="0"/>
          </a:p>
        </p:txBody>
      </p:sp>
      <p:pic>
        <p:nvPicPr>
          <p:cNvPr id="8" name="Foto slide-07-clubs-tennisclub.jpg" descr="Spelers met HÏ Grip-sokken op de baan (TVB Open)"/>
          <p:cNvPicPr>
            <a:picLocks noChangeAspect="1"/>
          </p:cNvPicPr>
          <p:nvPr/>
        </p:nvPicPr>
        <p:blipFill>
          <a:blip r:embed="rId4"/>
          <a:stretch>
            <a:fillRect/>
          </a:stretch>
        </p:blipFill>
        <p:spPr>
          <a:xfrm>
            <a:off x="4343400" y="1783080"/>
            <a:ext cx="3520440" cy="3566160"/>
          </a:xfrm>
          <a:prstGeom prst="rect">
            <a:avLst/>
          </a:prstGeom>
        </p:spPr>
      </p:pic>
      <p:sp>
        <p:nvSpPr>
          <p:cNvPr id="9" name="Label foto-type"/>
          <p:cNvSpPr/>
          <p:nvPr/>
        </p:nvSpPr>
        <p:spPr>
          <a:xfrm>
            <a:off x="4572000" y="2011680"/>
            <a:ext cx="1600200" cy="329184"/>
          </a:xfrm>
          <a:prstGeom prst="roundRect">
            <a:avLst>
              <a:gd name="adj" fmla="val 50000"/>
            </a:avLst>
          </a:prstGeom>
          <a:solidFill>
            <a:schemeClr val="accent1"/>
          </a:solidFill>
          <a:ln w="6350">
            <a:solidFill>
              <a:schemeClr val="accent1"/>
            </a:solidFill>
            <a:prstDash val="solid"/>
          </a:ln>
        </p:spPr>
        <p:txBody>
          <a:bodyPr/>
          <a:lstStyle/>
          <a:p>
            <a:endParaRPr lang="nl-NL"/>
          </a:p>
        </p:txBody>
      </p:sp>
      <p:sp>
        <p:nvSpPr>
          <p:cNvPr id="10" name="Label tekst"/>
          <p:cNvSpPr txBox="1"/>
          <p:nvPr/>
        </p:nvSpPr>
        <p:spPr>
          <a:xfrm>
            <a:off x="4572000" y="2011680"/>
            <a:ext cx="1600200" cy="329184"/>
          </a:xfrm>
          <a:prstGeom prst="rect">
            <a:avLst/>
          </a:prstGeom>
          <a:noFill/>
          <a:ln/>
        </p:spPr>
        <p:txBody>
          <a:bodyPr wrap="square" lIns="0" tIns="0" rIns="0" bIns="0" rtlCol="0" anchor="ctr"/>
          <a:lstStyle/>
          <a:p>
            <a:pPr marL="0" indent="0" algn="ctr">
              <a:buNone/>
            </a:pPr>
            <a:r>
              <a:rPr lang="en-US" sz="1100" b="1" kern="0" spc="200" dirty="0">
                <a:solidFill>
                  <a:schemeClr val="tx1"/>
                </a:solidFill>
                <a:latin typeface="Poppins" pitchFamily="34" charset="0"/>
                <a:ea typeface="Poppins" pitchFamily="34" charset="-122"/>
                <a:cs typeface="Poppins" pitchFamily="34" charset="-120"/>
              </a:rPr>
              <a:t>EIGEN FOTO</a:t>
            </a:r>
            <a:endParaRPr lang="en-US" sz="1100" dirty="0"/>
          </a:p>
        </p:txBody>
      </p:sp>
      <p:sp>
        <p:nvSpPr>
          <p:cNvPr id="11" name="Text 7"/>
          <p:cNvSpPr txBox="1"/>
          <p:nvPr/>
        </p:nvSpPr>
        <p:spPr>
          <a:xfrm>
            <a:off x="4343400" y="5532120"/>
            <a:ext cx="3520440" cy="365760"/>
          </a:xfrm>
          <a:prstGeom prst="rect">
            <a:avLst/>
          </a:prstGeom>
          <a:noFill/>
          <a:ln/>
        </p:spPr>
        <p:txBody>
          <a:bodyPr wrap="square" lIns="0" tIns="0" rIns="0" bIns="0" rtlCol="0" anchor="t"/>
          <a:lstStyle/>
          <a:p>
            <a:pPr marL="0" indent="0">
              <a:buNone/>
            </a:pPr>
            <a:r>
              <a:rPr lang="en-US" sz="1400" b="1" kern="0" spc="300" dirty="0">
                <a:solidFill>
                  <a:schemeClr val="accent6"/>
                </a:solidFill>
                <a:latin typeface="Poppins" pitchFamily="34" charset="0"/>
                <a:ea typeface="Poppins" pitchFamily="34" charset="-122"/>
                <a:cs typeface="Poppins" pitchFamily="34" charset="-120"/>
              </a:rPr>
              <a:t>CLUBS</a:t>
            </a:r>
            <a:endParaRPr lang="en-US" sz="1400" dirty="0"/>
          </a:p>
        </p:txBody>
      </p:sp>
      <p:sp>
        <p:nvSpPr>
          <p:cNvPr id="12" name="Partner CLUBS"/>
          <p:cNvSpPr txBox="1"/>
          <p:nvPr/>
        </p:nvSpPr>
        <p:spPr>
          <a:xfrm>
            <a:off x="4343400" y="5852160"/>
            <a:ext cx="3520440" cy="548640"/>
          </a:xfrm>
          <a:prstGeom prst="rect">
            <a:avLst/>
          </a:prstGeom>
          <a:noFill/>
          <a:ln/>
        </p:spPr>
        <p:txBody>
          <a:bodyPr wrap="square" lIns="0" tIns="0" rIns="0" bIns="0" rtlCol="0" anchor="t"/>
          <a:lstStyle/>
          <a:p>
            <a:pPr marL="0" indent="0">
              <a:buNone/>
            </a:pPr>
            <a:r>
              <a:rPr lang="en-US" sz="2000" b="1" dirty="0">
                <a:solidFill>
                  <a:schemeClr val="tx1"/>
                </a:solidFill>
                <a:latin typeface="Poppins" pitchFamily="34" charset="0"/>
                <a:ea typeface="Poppins" pitchFamily="34" charset="-122"/>
                <a:cs typeface="Poppins" pitchFamily="34" charset="-120"/>
              </a:rPr>
              <a:t>Concordia · Spirit · Lyra</a:t>
            </a:r>
            <a:endParaRPr lang="en-US" sz="2000" dirty="0"/>
          </a:p>
        </p:txBody>
      </p:sp>
      <p:pic>
        <p:nvPicPr>
          <p:cNvPr id="13" name="Foto slide-07-gyms-pilates.jpg" descr="Founder in HÏ Grip-shirt bij een pilates-reformer"/>
          <p:cNvPicPr>
            <a:picLocks noChangeAspect="1"/>
          </p:cNvPicPr>
          <p:nvPr/>
        </p:nvPicPr>
        <p:blipFill>
          <a:blip r:embed="rId5"/>
          <a:stretch>
            <a:fillRect/>
          </a:stretch>
        </p:blipFill>
        <p:spPr>
          <a:xfrm>
            <a:off x="8138160" y="1783080"/>
            <a:ext cx="3520440" cy="3566160"/>
          </a:xfrm>
          <a:prstGeom prst="rect">
            <a:avLst/>
          </a:prstGeom>
        </p:spPr>
      </p:pic>
      <p:sp>
        <p:nvSpPr>
          <p:cNvPr id="14" name="Label foto-type"/>
          <p:cNvSpPr/>
          <p:nvPr/>
        </p:nvSpPr>
        <p:spPr>
          <a:xfrm>
            <a:off x="8366760" y="2011680"/>
            <a:ext cx="1600200" cy="329184"/>
          </a:xfrm>
          <a:prstGeom prst="roundRect">
            <a:avLst>
              <a:gd name="adj" fmla="val 50000"/>
            </a:avLst>
          </a:prstGeom>
          <a:solidFill>
            <a:schemeClr val="accent1"/>
          </a:solidFill>
          <a:ln w="6350">
            <a:solidFill>
              <a:schemeClr val="accent1"/>
            </a:solidFill>
            <a:prstDash val="solid"/>
          </a:ln>
        </p:spPr>
        <p:txBody>
          <a:bodyPr/>
          <a:lstStyle/>
          <a:p>
            <a:endParaRPr lang="nl-NL"/>
          </a:p>
        </p:txBody>
      </p:sp>
      <p:sp>
        <p:nvSpPr>
          <p:cNvPr id="15" name="Label tekst"/>
          <p:cNvSpPr txBox="1"/>
          <p:nvPr/>
        </p:nvSpPr>
        <p:spPr>
          <a:xfrm>
            <a:off x="8366760" y="2011680"/>
            <a:ext cx="1600200" cy="329184"/>
          </a:xfrm>
          <a:prstGeom prst="rect">
            <a:avLst/>
          </a:prstGeom>
          <a:noFill/>
          <a:ln/>
        </p:spPr>
        <p:txBody>
          <a:bodyPr wrap="square" lIns="0" tIns="0" rIns="0" bIns="0" rtlCol="0" anchor="ctr"/>
          <a:lstStyle/>
          <a:p>
            <a:pPr marL="0" indent="0" algn="ctr">
              <a:buNone/>
            </a:pPr>
            <a:r>
              <a:rPr lang="en-US" sz="1100" b="1" kern="0" spc="200" dirty="0">
                <a:solidFill>
                  <a:schemeClr val="tx1"/>
                </a:solidFill>
                <a:latin typeface="Poppins" pitchFamily="34" charset="0"/>
                <a:ea typeface="Poppins" pitchFamily="34" charset="-122"/>
                <a:cs typeface="Poppins" pitchFamily="34" charset="-120"/>
              </a:rPr>
              <a:t>EIGEN FOTO</a:t>
            </a:r>
            <a:endParaRPr lang="en-US" sz="1100" dirty="0"/>
          </a:p>
        </p:txBody>
      </p:sp>
      <p:sp>
        <p:nvSpPr>
          <p:cNvPr id="16" name="Text 11"/>
          <p:cNvSpPr txBox="1"/>
          <p:nvPr/>
        </p:nvSpPr>
        <p:spPr>
          <a:xfrm>
            <a:off x="8138160" y="5532120"/>
            <a:ext cx="3520440" cy="365760"/>
          </a:xfrm>
          <a:prstGeom prst="rect">
            <a:avLst/>
          </a:prstGeom>
          <a:noFill/>
          <a:ln/>
        </p:spPr>
        <p:txBody>
          <a:bodyPr wrap="square" lIns="0" tIns="0" rIns="0" bIns="0" rtlCol="0" anchor="t"/>
          <a:lstStyle/>
          <a:p>
            <a:pPr marL="0" indent="0">
              <a:buNone/>
            </a:pPr>
            <a:r>
              <a:rPr lang="en-US" sz="1400" b="1" kern="0" spc="300" dirty="0">
                <a:solidFill>
                  <a:schemeClr val="accent6"/>
                </a:solidFill>
                <a:latin typeface="Poppins" pitchFamily="34" charset="0"/>
                <a:ea typeface="Poppins" pitchFamily="34" charset="-122"/>
                <a:cs typeface="Poppins" pitchFamily="34" charset="-120"/>
              </a:rPr>
              <a:t>GYMS</a:t>
            </a:r>
            <a:endParaRPr lang="en-US" sz="1400" dirty="0"/>
          </a:p>
        </p:txBody>
      </p:sp>
      <p:sp>
        <p:nvSpPr>
          <p:cNvPr id="17" name="Partner GYMS"/>
          <p:cNvSpPr txBox="1"/>
          <p:nvPr/>
        </p:nvSpPr>
        <p:spPr>
          <a:xfrm>
            <a:off x="8138160" y="5852160"/>
            <a:ext cx="3520440" cy="548640"/>
          </a:xfrm>
          <a:prstGeom prst="rect">
            <a:avLst/>
          </a:prstGeom>
          <a:noFill/>
          <a:ln/>
        </p:spPr>
        <p:txBody>
          <a:bodyPr wrap="square" lIns="0" tIns="0" rIns="0" bIns="0" rtlCol="0" anchor="t"/>
          <a:lstStyle/>
          <a:p>
            <a:pPr marL="0" indent="0">
              <a:buNone/>
            </a:pPr>
            <a:r>
              <a:rPr lang="en-US" sz="2000" b="1" dirty="0">
                <a:solidFill>
                  <a:schemeClr val="tx1"/>
                </a:solidFill>
                <a:latin typeface="Poppins" pitchFamily="34" charset="0"/>
                <a:ea typeface="Poppins" pitchFamily="34" charset="-122"/>
                <a:cs typeface="Poppins" pitchFamily="34" charset="-120"/>
              </a:rPr>
              <a:t>SYTH · MyHealthClub</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Foto slide-08-marges-verpakking.jpg" descr="Verpakte HÏ Grip-sokken op een rij"/>
          <p:cNvPicPr>
            <a:picLocks noChangeAspect="1"/>
          </p:cNvPicPr>
          <p:nvPr/>
        </p:nvPicPr>
        <p:blipFill>
          <a:blip r:embed="rId3"/>
          <a:stretch>
            <a:fillRect/>
          </a:stretch>
        </p:blipFill>
        <p:spPr>
          <a:xfrm>
            <a:off x="0" y="0"/>
            <a:ext cx="5788152" cy="6858000"/>
          </a:xfrm>
          <a:prstGeom prst="rect">
            <a:avLst/>
          </a:prstGeom>
        </p:spPr>
      </p:pic>
      <p:sp>
        <p:nvSpPr>
          <p:cNvPr id="3" name="Label foto-type"/>
          <p:cNvSpPr/>
          <p:nvPr/>
        </p:nvSpPr>
        <p:spPr>
          <a:xfrm>
            <a:off x="228600" y="228600"/>
            <a:ext cx="1600200" cy="329184"/>
          </a:xfrm>
          <a:prstGeom prst="roundRect">
            <a:avLst>
              <a:gd name="adj" fmla="val 50000"/>
            </a:avLst>
          </a:prstGeom>
          <a:solidFill>
            <a:schemeClr val="accent1"/>
          </a:solidFill>
          <a:ln w="6350">
            <a:solidFill>
              <a:schemeClr val="accent1"/>
            </a:solidFill>
            <a:prstDash val="solid"/>
          </a:ln>
        </p:spPr>
        <p:txBody>
          <a:bodyPr/>
          <a:lstStyle/>
          <a:p>
            <a:endParaRPr lang="nl-NL"/>
          </a:p>
        </p:txBody>
      </p:sp>
      <p:sp>
        <p:nvSpPr>
          <p:cNvPr id="4" name="Label tekst"/>
          <p:cNvSpPr txBox="1"/>
          <p:nvPr/>
        </p:nvSpPr>
        <p:spPr>
          <a:xfrm>
            <a:off x="228600" y="228600"/>
            <a:ext cx="1600200" cy="329184"/>
          </a:xfrm>
          <a:prstGeom prst="rect">
            <a:avLst/>
          </a:prstGeom>
          <a:noFill/>
          <a:ln/>
        </p:spPr>
        <p:txBody>
          <a:bodyPr wrap="square" lIns="0" tIns="0" rIns="0" bIns="0" rtlCol="0" anchor="ctr"/>
          <a:lstStyle/>
          <a:p>
            <a:pPr marL="0" indent="0" algn="ctr">
              <a:buNone/>
            </a:pPr>
            <a:r>
              <a:rPr lang="en-US" sz="1100" b="1" kern="0" spc="200" dirty="0">
                <a:solidFill>
                  <a:schemeClr val="tx1"/>
                </a:solidFill>
                <a:latin typeface="Poppins" pitchFamily="34" charset="0"/>
                <a:ea typeface="Poppins" pitchFamily="34" charset="-122"/>
                <a:cs typeface="Poppins" pitchFamily="34" charset="-120"/>
              </a:rPr>
              <a:t>EIGEN FOTO</a:t>
            </a:r>
            <a:endParaRPr lang="en-US" sz="1100" dirty="0"/>
          </a:p>
        </p:txBody>
      </p:sp>
      <p:sp>
        <p:nvSpPr>
          <p:cNvPr id="5" name="Text 0"/>
          <p:cNvSpPr>
            <a:spLocks noGrp="1"/>
          </p:cNvSpPr>
          <p:nvPr>
            <p:ph type="title" idx="100" hasCustomPrompt="1"/>
          </p:nvPr>
        </p:nvSpPr>
        <p:spPr>
          <a:xfrm>
            <a:off x="6400800" y="502920"/>
            <a:ext cx="5212080" cy="1371600"/>
          </a:xfrm>
          <a:prstGeom prst="rect">
            <a:avLst/>
          </a:prstGeom>
          <a:noFill/>
          <a:ln/>
        </p:spPr>
        <p:txBody>
          <a:bodyPr wrap="square" lIns="0" tIns="0" rIns="0" bIns="0" rtlCol="0" anchor="t"/>
          <a:lstStyle/>
          <a:p>
            <a:pPr marL="0" indent="0" algn="l">
              <a:buNone/>
            </a:pPr>
            <a:r>
              <a:rPr lang="en-US" sz="4000" b="1" dirty="0">
                <a:solidFill>
                  <a:schemeClr val="bg1"/>
                </a:solidFill>
                <a:latin typeface="Poppins" pitchFamily="34" charset="0"/>
                <a:ea typeface="Poppins" pitchFamily="34" charset="-122"/>
                <a:cs typeface="Poppins" pitchFamily="34" charset="-120"/>
              </a:rPr>
              <a:t>GEZONDE MARGES</a:t>
            </a:r>
            <a:endParaRPr lang="en-US" sz="4000" dirty="0"/>
          </a:p>
        </p:txBody>
      </p:sp>
      <p:sp>
        <p:nvSpPr>
          <p:cNvPr id="6" name="Stat 65,9%"/>
          <p:cNvSpPr txBox="1"/>
          <p:nvPr/>
        </p:nvSpPr>
        <p:spPr>
          <a:xfrm>
            <a:off x="6400800" y="2103120"/>
            <a:ext cx="2743200" cy="1097280"/>
          </a:xfrm>
          <a:prstGeom prst="rect">
            <a:avLst/>
          </a:prstGeom>
          <a:noFill/>
          <a:ln/>
        </p:spPr>
        <p:txBody>
          <a:bodyPr wrap="square" lIns="0" tIns="0" rIns="0" bIns="0" rtlCol="0" anchor="ctr"/>
          <a:lstStyle/>
          <a:p>
            <a:pPr marL="0" indent="0">
              <a:buNone/>
            </a:pPr>
            <a:r>
              <a:rPr lang="en-US" sz="4800" b="1" dirty="0">
                <a:solidFill>
                  <a:schemeClr val="accent1"/>
                </a:solidFill>
                <a:latin typeface="Poppins" pitchFamily="34" charset="0"/>
                <a:ea typeface="Poppins" pitchFamily="34" charset="-122"/>
                <a:cs typeface="Poppins" pitchFamily="34" charset="-120"/>
              </a:rPr>
              <a:t>65,9%</a:t>
            </a:r>
            <a:endParaRPr lang="en-US" sz="4800" dirty="0"/>
          </a:p>
        </p:txBody>
      </p:sp>
      <p:sp>
        <p:nvSpPr>
          <p:cNvPr id="7" name="Text 4"/>
          <p:cNvSpPr txBox="1"/>
          <p:nvPr/>
        </p:nvSpPr>
        <p:spPr>
          <a:xfrm>
            <a:off x="9235440" y="2194560"/>
            <a:ext cx="2468880" cy="914400"/>
          </a:xfrm>
          <a:prstGeom prst="rect">
            <a:avLst/>
          </a:prstGeom>
          <a:noFill/>
          <a:ln/>
        </p:spPr>
        <p:txBody>
          <a:bodyPr wrap="square" lIns="0" tIns="0" rIns="0" bIns="0" rtlCol="0" anchor="ctr"/>
          <a:lstStyle/>
          <a:p>
            <a:pPr marL="0" indent="0">
              <a:buNone/>
            </a:pPr>
            <a:r>
              <a:rPr lang="en-US" sz="1400" b="1" kern="0" spc="300" dirty="0">
                <a:solidFill>
                  <a:schemeClr val="bg1"/>
                </a:solidFill>
                <a:latin typeface="Poppins" pitchFamily="34" charset="0"/>
                <a:ea typeface="Poppins" pitchFamily="34" charset="-122"/>
                <a:cs typeface="Poppins" pitchFamily="34" charset="-120"/>
              </a:rPr>
              <a:t>BRUTOMARGE [CHECK]</a:t>
            </a:r>
            <a:endParaRPr lang="en-US" sz="1400" dirty="0"/>
          </a:p>
        </p:txBody>
      </p:sp>
      <p:sp>
        <p:nvSpPr>
          <p:cNvPr id="8" name="Stat €17,95"/>
          <p:cNvSpPr txBox="1"/>
          <p:nvPr/>
        </p:nvSpPr>
        <p:spPr>
          <a:xfrm>
            <a:off x="6400800" y="3566160"/>
            <a:ext cx="2743200" cy="1097280"/>
          </a:xfrm>
          <a:prstGeom prst="rect">
            <a:avLst/>
          </a:prstGeom>
          <a:noFill/>
          <a:ln/>
        </p:spPr>
        <p:txBody>
          <a:bodyPr wrap="square" lIns="0" tIns="0" rIns="0" bIns="0" rtlCol="0" anchor="ctr"/>
          <a:lstStyle/>
          <a:p>
            <a:pPr marL="0" indent="0">
              <a:buNone/>
            </a:pPr>
            <a:r>
              <a:rPr lang="en-US" sz="4800" b="1" dirty="0">
                <a:solidFill>
                  <a:schemeClr val="accent1"/>
                </a:solidFill>
                <a:latin typeface="Poppins" pitchFamily="34" charset="0"/>
                <a:ea typeface="Poppins" pitchFamily="34" charset="-122"/>
                <a:cs typeface="Poppins" pitchFamily="34" charset="-120"/>
              </a:rPr>
              <a:t>€17,95</a:t>
            </a:r>
            <a:endParaRPr lang="en-US" sz="4800" dirty="0"/>
          </a:p>
        </p:txBody>
      </p:sp>
      <p:sp>
        <p:nvSpPr>
          <p:cNvPr id="9" name="Text 6"/>
          <p:cNvSpPr txBox="1"/>
          <p:nvPr/>
        </p:nvSpPr>
        <p:spPr>
          <a:xfrm>
            <a:off x="9235440" y="3657600"/>
            <a:ext cx="2468880" cy="914400"/>
          </a:xfrm>
          <a:prstGeom prst="rect">
            <a:avLst/>
          </a:prstGeom>
          <a:noFill/>
          <a:ln/>
        </p:spPr>
        <p:txBody>
          <a:bodyPr wrap="square" lIns="0" tIns="0" rIns="0" bIns="0" rtlCol="0" anchor="ctr"/>
          <a:lstStyle/>
          <a:p>
            <a:pPr marL="0" indent="0">
              <a:buNone/>
            </a:pPr>
            <a:r>
              <a:rPr lang="en-US" sz="1400" b="1" kern="0" spc="300" dirty="0">
                <a:solidFill>
                  <a:schemeClr val="bg1"/>
                </a:solidFill>
                <a:latin typeface="Poppins" pitchFamily="34" charset="0"/>
                <a:ea typeface="Poppins" pitchFamily="34" charset="-122"/>
                <a:cs typeface="Poppins" pitchFamily="34" charset="-120"/>
              </a:rPr>
              <a:t>VERKOOPPRIJS 2.0</a:t>
            </a:r>
            <a:endParaRPr lang="en-US" sz="1400" dirty="0"/>
          </a:p>
        </p:txBody>
      </p:sp>
      <p:sp>
        <p:nvSpPr>
          <p:cNvPr id="10" name="Stat €58.780"/>
          <p:cNvSpPr txBox="1"/>
          <p:nvPr/>
        </p:nvSpPr>
        <p:spPr>
          <a:xfrm>
            <a:off x="6400800" y="5029200"/>
            <a:ext cx="2743200" cy="1097280"/>
          </a:xfrm>
          <a:prstGeom prst="rect">
            <a:avLst/>
          </a:prstGeom>
          <a:noFill/>
          <a:ln/>
        </p:spPr>
        <p:txBody>
          <a:bodyPr wrap="square" lIns="0" tIns="0" rIns="0" bIns="0" rtlCol="0" anchor="ctr"/>
          <a:lstStyle/>
          <a:p>
            <a:pPr marL="0" indent="0">
              <a:buNone/>
            </a:pPr>
            <a:r>
              <a:rPr lang="en-US" sz="4800" b="1" dirty="0">
                <a:solidFill>
                  <a:schemeClr val="accent1"/>
                </a:solidFill>
                <a:latin typeface="Poppins" pitchFamily="34" charset="0"/>
                <a:ea typeface="Poppins" pitchFamily="34" charset="-122"/>
                <a:cs typeface="Poppins" pitchFamily="34" charset="-120"/>
              </a:rPr>
              <a:t>€58.780</a:t>
            </a:r>
            <a:endParaRPr lang="en-US" sz="4800" dirty="0"/>
          </a:p>
        </p:txBody>
      </p:sp>
      <p:sp>
        <p:nvSpPr>
          <p:cNvPr id="11" name="Text 8"/>
          <p:cNvSpPr txBox="1"/>
          <p:nvPr/>
        </p:nvSpPr>
        <p:spPr>
          <a:xfrm>
            <a:off x="9235440" y="5120640"/>
            <a:ext cx="2468880" cy="914400"/>
          </a:xfrm>
          <a:prstGeom prst="rect">
            <a:avLst/>
          </a:prstGeom>
          <a:noFill/>
          <a:ln/>
        </p:spPr>
        <p:txBody>
          <a:bodyPr wrap="square" lIns="0" tIns="0" rIns="0" bIns="0" rtlCol="0" anchor="ctr"/>
          <a:lstStyle/>
          <a:p>
            <a:pPr marL="0" indent="0">
              <a:buNone/>
            </a:pPr>
            <a:r>
              <a:rPr lang="en-US" sz="1400" b="1" kern="0" spc="300" dirty="0">
                <a:solidFill>
                  <a:schemeClr val="bg1"/>
                </a:solidFill>
                <a:latin typeface="Poppins" pitchFamily="34" charset="0"/>
                <a:ea typeface="Poppins" pitchFamily="34" charset="-122"/>
                <a:cs typeface="Poppins" pitchFamily="34" charset="-120"/>
              </a:rPr>
              <a:t>POT. WINST [CHECK]</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02920"/>
            <a:ext cx="11064240" cy="1097280"/>
          </a:xfrm>
          <a:prstGeom prst="rect">
            <a:avLst/>
          </a:prstGeom>
          <a:noFill/>
          <a:ln/>
        </p:spPr>
        <p:txBody>
          <a:bodyPr wrap="square" lIns="0" tIns="0" rIns="0" bIns="0" rtlCol="0" anchor="t"/>
          <a:lstStyle/>
          <a:p>
            <a:pPr marL="0" indent="0" algn="l">
              <a:buNone/>
            </a:pPr>
            <a:r>
              <a:rPr lang="en-US" sz="4400" b="1" dirty="0">
                <a:solidFill>
                  <a:schemeClr val="bg1"/>
                </a:solidFill>
                <a:latin typeface="Poppins" pitchFamily="34" charset="0"/>
                <a:ea typeface="Poppins" pitchFamily="34" charset="-122"/>
                <a:cs typeface="Poppins" pitchFamily="34" charset="-120"/>
              </a:rPr>
              <a:t>DE TOEKOMST VAN HÏ GRIP</a:t>
            </a:r>
            <a:endParaRPr lang="en-US" sz="4400" dirty="0"/>
          </a:p>
        </p:txBody>
      </p:sp>
      <p:sp>
        <p:nvSpPr>
          <p:cNvPr id="3" name="Foto placeholder"/>
          <p:cNvSpPr/>
          <p:nvPr/>
        </p:nvSpPr>
        <p:spPr>
          <a:xfrm>
            <a:off x="548640" y="1783080"/>
            <a:ext cx="3520440" cy="3566160"/>
          </a:xfrm>
          <a:prstGeom prst="rect">
            <a:avLst/>
          </a:prstGeom>
          <a:solidFill>
            <a:schemeClr val="accent6">
              <a:alpha val="65000"/>
            </a:schemeClr>
          </a:solidFill>
          <a:ln w="12700">
            <a:solidFill>
              <a:schemeClr val="accent5"/>
            </a:solidFill>
            <a:prstDash val="dash"/>
          </a:ln>
        </p:spPr>
        <p:txBody>
          <a:bodyPr/>
          <a:lstStyle/>
          <a:p>
            <a:endParaRPr lang="nl-NL"/>
          </a:p>
        </p:txBody>
      </p:sp>
      <p:sp>
        <p:nvSpPr>
          <p:cNvPr id="4" name="Fotobeschrijving"/>
          <p:cNvSpPr txBox="1"/>
          <p:nvPr/>
        </p:nvSpPr>
        <p:spPr>
          <a:xfrm>
            <a:off x="822960" y="2240280"/>
            <a:ext cx="2971800" cy="2651760"/>
          </a:xfrm>
          <a:prstGeom prst="rect">
            <a:avLst/>
          </a:prstGeom>
          <a:noFill/>
          <a:ln/>
        </p:spPr>
        <p:txBody>
          <a:bodyPr wrap="square" lIns="0" tIns="0" rIns="0" bIns="0" rtlCol="0" anchor="ctr"/>
          <a:lstStyle/>
          <a:p>
            <a:pPr marL="0" indent="0" algn="ctr">
              <a:buNone/>
            </a:pPr>
            <a:r>
              <a:rPr lang="en-US" sz="1400" i="1" dirty="0">
                <a:solidFill>
                  <a:schemeClr val="bg2"/>
                </a:solidFill>
                <a:latin typeface="Poppins" pitchFamily="34" charset="0"/>
                <a:ea typeface="Poppins" pitchFamily="34" charset="-122"/>
                <a:cs typeface="Poppins" pitchFamily="34" charset="-120"/>
              </a:rPr>
              <a:t>Prototype of eerste samples van de Performance Tubes, voetloze kousen, studio</a:t>
            </a:r>
            <a:endParaRPr lang="en-US" sz="1400" dirty="0"/>
          </a:p>
        </p:txBody>
      </p:sp>
      <p:sp>
        <p:nvSpPr>
          <p:cNvPr id="5" name="Label foto-type"/>
          <p:cNvSpPr/>
          <p:nvPr/>
        </p:nvSpPr>
        <p:spPr>
          <a:xfrm>
            <a:off x="777240" y="2011680"/>
            <a:ext cx="1600200" cy="329184"/>
          </a:xfrm>
          <a:prstGeom prst="roundRect">
            <a:avLst>
              <a:gd name="adj" fmla="val 50000"/>
            </a:avLst>
          </a:prstGeom>
          <a:solidFill>
            <a:schemeClr val="accent1"/>
          </a:solidFill>
          <a:ln w="6350">
            <a:solidFill>
              <a:schemeClr val="accent1"/>
            </a:solidFill>
            <a:prstDash val="solid"/>
          </a:ln>
        </p:spPr>
        <p:txBody>
          <a:bodyPr/>
          <a:lstStyle/>
          <a:p>
            <a:endParaRPr lang="nl-NL"/>
          </a:p>
        </p:txBody>
      </p:sp>
      <p:sp>
        <p:nvSpPr>
          <p:cNvPr id="6" name="Label tekst"/>
          <p:cNvSpPr txBox="1"/>
          <p:nvPr/>
        </p:nvSpPr>
        <p:spPr>
          <a:xfrm>
            <a:off x="777240" y="2011680"/>
            <a:ext cx="1600200" cy="329184"/>
          </a:xfrm>
          <a:prstGeom prst="rect">
            <a:avLst/>
          </a:prstGeom>
          <a:noFill/>
          <a:ln/>
        </p:spPr>
        <p:txBody>
          <a:bodyPr wrap="square" lIns="0" tIns="0" rIns="0" bIns="0" rtlCol="0" anchor="ctr"/>
          <a:lstStyle/>
          <a:p>
            <a:pPr marL="0" indent="0" algn="ctr">
              <a:buNone/>
            </a:pPr>
            <a:r>
              <a:rPr lang="en-US" sz="1100" b="1" kern="0" spc="200" dirty="0">
                <a:solidFill>
                  <a:schemeClr val="tx1"/>
                </a:solidFill>
                <a:latin typeface="Poppins" pitchFamily="34" charset="0"/>
                <a:ea typeface="Poppins" pitchFamily="34" charset="-122"/>
                <a:cs typeface="Poppins" pitchFamily="34" charset="-120"/>
              </a:rPr>
              <a:t>EIGEN FOTO</a:t>
            </a:r>
            <a:endParaRPr lang="en-US" sz="1100" dirty="0"/>
          </a:p>
        </p:txBody>
      </p:sp>
      <p:sp>
        <p:nvSpPr>
          <p:cNvPr id="7" name="Product PERFORMANCE TUBES"/>
          <p:cNvSpPr txBox="1"/>
          <p:nvPr/>
        </p:nvSpPr>
        <p:spPr>
          <a:xfrm>
            <a:off x="548640" y="5532120"/>
            <a:ext cx="3520440" cy="457200"/>
          </a:xfrm>
          <a:prstGeom prst="rect">
            <a:avLst/>
          </a:prstGeom>
          <a:noFill/>
          <a:ln/>
        </p:spPr>
        <p:txBody>
          <a:bodyPr wrap="square" lIns="0" tIns="0" rIns="0" bIns="0" rtlCol="0" anchor="t"/>
          <a:lstStyle/>
          <a:p>
            <a:pPr marL="0" indent="0">
              <a:buNone/>
            </a:pPr>
            <a:r>
              <a:rPr lang="en-US" sz="1800" b="1" dirty="0">
                <a:solidFill>
                  <a:schemeClr val="bg1"/>
                </a:solidFill>
                <a:latin typeface="Poppins" pitchFamily="34" charset="0"/>
                <a:ea typeface="Poppins" pitchFamily="34" charset="-122"/>
                <a:cs typeface="Poppins" pitchFamily="34" charset="-120"/>
              </a:rPr>
              <a:t>PERFORMANCE TUBES</a:t>
            </a:r>
            <a:endParaRPr lang="en-US" sz="1800" dirty="0"/>
          </a:p>
        </p:txBody>
      </p:sp>
      <p:sp>
        <p:nvSpPr>
          <p:cNvPr id="8" name="Text 6"/>
          <p:cNvSpPr txBox="1"/>
          <p:nvPr/>
        </p:nvSpPr>
        <p:spPr>
          <a:xfrm>
            <a:off x="548640" y="5989320"/>
            <a:ext cx="3520440" cy="365760"/>
          </a:xfrm>
          <a:prstGeom prst="rect">
            <a:avLst/>
          </a:prstGeom>
          <a:noFill/>
          <a:ln/>
        </p:spPr>
        <p:txBody>
          <a:bodyPr wrap="square" lIns="0" tIns="0" rIns="0" bIns="0" rtlCol="0" anchor="t"/>
          <a:lstStyle/>
          <a:p>
            <a:pPr marL="0" indent="0">
              <a:buNone/>
            </a:pPr>
            <a:r>
              <a:rPr lang="en-US" sz="1200" b="1" kern="0" spc="300" dirty="0">
                <a:solidFill>
                  <a:schemeClr val="accent1"/>
                </a:solidFill>
                <a:latin typeface="Poppins" pitchFamily="34" charset="0"/>
                <a:ea typeface="Poppins" pitchFamily="34" charset="-122"/>
                <a:cs typeface="Poppins" pitchFamily="34" charset="-120"/>
              </a:rPr>
              <a:t>BINNENKORT</a:t>
            </a:r>
            <a:endParaRPr lang="en-US" sz="1200" dirty="0"/>
          </a:p>
        </p:txBody>
      </p:sp>
      <p:pic>
        <p:nvPicPr>
          <p:cNvPr id="9" name="Foto slide-09-skisokken-ontwerp.jpg" descr="Ontwerp van de eerste Ski Socks · ALPINE PRO"/>
          <p:cNvPicPr>
            <a:picLocks noChangeAspect="1"/>
          </p:cNvPicPr>
          <p:nvPr/>
        </p:nvPicPr>
        <p:blipFill>
          <a:blip r:embed="rId3"/>
          <a:stretch>
            <a:fillRect/>
          </a:stretch>
        </p:blipFill>
        <p:spPr>
          <a:xfrm>
            <a:off x="4343400" y="1783080"/>
            <a:ext cx="3520440" cy="3566160"/>
          </a:xfrm>
          <a:prstGeom prst="rect">
            <a:avLst/>
          </a:prstGeom>
        </p:spPr>
      </p:pic>
      <p:sp>
        <p:nvSpPr>
          <p:cNvPr id="10" name="Label foto-type"/>
          <p:cNvSpPr/>
          <p:nvPr/>
        </p:nvSpPr>
        <p:spPr>
          <a:xfrm>
            <a:off x="4572000" y="2011680"/>
            <a:ext cx="1600200" cy="329184"/>
          </a:xfrm>
          <a:prstGeom prst="roundRect">
            <a:avLst>
              <a:gd name="adj" fmla="val 50000"/>
            </a:avLst>
          </a:prstGeom>
          <a:solidFill>
            <a:schemeClr val="accent1"/>
          </a:solidFill>
          <a:ln w="6350">
            <a:solidFill>
              <a:schemeClr val="accent1"/>
            </a:solidFill>
            <a:prstDash val="solid"/>
          </a:ln>
        </p:spPr>
        <p:txBody>
          <a:bodyPr/>
          <a:lstStyle/>
          <a:p>
            <a:endParaRPr lang="nl-NL"/>
          </a:p>
        </p:txBody>
      </p:sp>
      <p:sp>
        <p:nvSpPr>
          <p:cNvPr id="11" name="Label tekst"/>
          <p:cNvSpPr txBox="1"/>
          <p:nvPr/>
        </p:nvSpPr>
        <p:spPr>
          <a:xfrm>
            <a:off x="4572000" y="2011680"/>
            <a:ext cx="1600200" cy="329184"/>
          </a:xfrm>
          <a:prstGeom prst="rect">
            <a:avLst/>
          </a:prstGeom>
          <a:noFill/>
          <a:ln/>
        </p:spPr>
        <p:txBody>
          <a:bodyPr wrap="square" lIns="0" tIns="0" rIns="0" bIns="0" rtlCol="0" anchor="ctr"/>
          <a:lstStyle/>
          <a:p>
            <a:pPr marL="0" indent="0" algn="ctr">
              <a:buNone/>
            </a:pPr>
            <a:r>
              <a:rPr lang="en-US" sz="1100" b="1" kern="0" spc="200" dirty="0">
                <a:solidFill>
                  <a:schemeClr val="tx1"/>
                </a:solidFill>
                <a:latin typeface="Poppins" pitchFamily="34" charset="0"/>
                <a:ea typeface="Poppins" pitchFamily="34" charset="-122"/>
                <a:cs typeface="Poppins" pitchFamily="34" charset="-120"/>
              </a:rPr>
              <a:t>EIGEN FOTO</a:t>
            </a:r>
            <a:endParaRPr lang="en-US" sz="1100" dirty="0"/>
          </a:p>
        </p:txBody>
      </p:sp>
      <p:sp>
        <p:nvSpPr>
          <p:cNvPr id="12" name="Product SKI SOCKS · ALPINE PRO"/>
          <p:cNvSpPr txBox="1"/>
          <p:nvPr/>
        </p:nvSpPr>
        <p:spPr>
          <a:xfrm>
            <a:off x="4343400" y="5532120"/>
            <a:ext cx="3520440" cy="457200"/>
          </a:xfrm>
          <a:prstGeom prst="rect">
            <a:avLst/>
          </a:prstGeom>
          <a:noFill/>
          <a:ln/>
        </p:spPr>
        <p:txBody>
          <a:bodyPr wrap="square" lIns="0" tIns="0" rIns="0" bIns="0" rtlCol="0" anchor="t"/>
          <a:lstStyle/>
          <a:p>
            <a:pPr marL="0" indent="0">
              <a:buNone/>
            </a:pPr>
            <a:r>
              <a:rPr lang="en-US" sz="1800" b="1" dirty="0">
                <a:solidFill>
                  <a:schemeClr val="bg1"/>
                </a:solidFill>
                <a:latin typeface="Poppins" pitchFamily="34" charset="0"/>
                <a:ea typeface="Poppins" pitchFamily="34" charset="-122"/>
                <a:cs typeface="Poppins" pitchFamily="34" charset="-120"/>
              </a:rPr>
              <a:t>SKI SOCKS · ALPINE PRO</a:t>
            </a:r>
            <a:endParaRPr lang="en-US" sz="1800" dirty="0"/>
          </a:p>
        </p:txBody>
      </p:sp>
      <p:sp>
        <p:nvSpPr>
          <p:cNvPr id="13" name="Text 10"/>
          <p:cNvSpPr txBox="1"/>
          <p:nvPr/>
        </p:nvSpPr>
        <p:spPr>
          <a:xfrm>
            <a:off x="4343400" y="5989320"/>
            <a:ext cx="3520440" cy="365760"/>
          </a:xfrm>
          <a:prstGeom prst="rect">
            <a:avLst/>
          </a:prstGeom>
          <a:noFill/>
          <a:ln/>
        </p:spPr>
        <p:txBody>
          <a:bodyPr wrap="square" lIns="0" tIns="0" rIns="0" bIns="0" rtlCol="0" anchor="t"/>
          <a:lstStyle/>
          <a:p>
            <a:pPr marL="0" indent="0">
              <a:buNone/>
            </a:pPr>
            <a:r>
              <a:rPr lang="en-US" sz="1200" b="1" kern="0" spc="300" dirty="0">
                <a:solidFill>
                  <a:schemeClr val="accent1"/>
                </a:solidFill>
                <a:latin typeface="Poppins" pitchFamily="34" charset="0"/>
                <a:ea typeface="Poppins" pitchFamily="34" charset="-122"/>
                <a:cs typeface="Poppins" pitchFamily="34" charset="-120"/>
              </a:rPr>
              <a:t>BINNENKORT</a:t>
            </a:r>
            <a:endParaRPr lang="en-US" sz="1200" dirty="0"/>
          </a:p>
        </p:txBody>
      </p:sp>
      <p:pic>
        <p:nvPicPr>
          <p:cNvPr id="14" name="Foto slide-09-academy-tvb-open.jpg" descr="Sporter in actie tijdens het TVB Open"/>
          <p:cNvPicPr>
            <a:picLocks noChangeAspect="1"/>
          </p:cNvPicPr>
          <p:nvPr/>
        </p:nvPicPr>
        <p:blipFill>
          <a:blip r:embed="rId4"/>
          <a:stretch>
            <a:fillRect/>
          </a:stretch>
        </p:blipFill>
        <p:spPr>
          <a:xfrm>
            <a:off x="8138160" y="1783080"/>
            <a:ext cx="3520440" cy="3566160"/>
          </a:xfrm>
          <a:prstGeom prst="rect">
            <a:avLst/>
          </a:prstGeom>
        </p:spPr>
      </p:pic>
      <p:sp>
        <p:nvSpPr>
          <p:cNvPr id="15" name="Label foto-type"/>
          <p:cNvSpPr/>
          <p:nvPr/>
        </p:nvSpPr>
        <p:spPr>
          <a:xfrm>
            <a:off x="8366760" y="2011680"/>
            <a:ext cx="1600200" cy="329184"/>
          </a:xfrm>
          <a:prstGeom prst="roundRect">
            <a:avLst>
              <a:gd name="adj" fmla="val 50000"/>
            </a:avLst>
          </a:prstGeom>
          <a:solidFill>
            <a:schemeClr val="accent1"/>
          </a:solidFill>
          <a:ln w="6350">
            <a:solidFill>
              <a:schemeClr val="accent1"/>
            </a:solidFill>
            <a:prstDash val="solid"/>
          </a:ln>
        </p:spPr>
        <p:txBody>
          <a:bodyPr/>
          <a:lstStyle/>
          <a:p>
            <a:endParaRPr lang="nl-NL"/>
          </a:p>
        </p:txBody>
      </p:sp>
      <p:sp>
        <p:nvSpPr>
          <p:cNvPr id="16" name="Label tekst"/>
          <p:cNvSpPr txBox="1"/>
          <p:nvPr/>
        </p:nvSpPr>
        <p:spPr>
          <a:xfrm>
            <a:off x="8366760" y="2011680"/>
            <a:ext cx="1600200" cy="329184"/>
          </a:xfrm>
          <a:prstGeom prst="rect">
            <a:avLst/>
          </a:prstGeom>
          <a:noFill/>
          <a:ln/>
        </p:spPr>
        <p:txBody>
          <a:bodyPr wrap="square" lIns="0" tIns="0" rIns="0" bIns="0" rtlCol="0" anchor="ctr"/>
          <a:lstStyle/>
          <a:p>
            <a:pPr marL="0" indent="0" algn="ctr">
              <a:buNone/>
            </a:pPr>
            <a:r>
              <a:rPr lang="en-US" sz="1100" b="1" kern="0" spc="200" dirty="0">
                <a:solidFill>
                  <a:schemeClr val="tx1"/>
                </a:solidFill>
                <a:latin typeface="Poppins" pitchFamily="34" charset="0"/>
                <a:ea typeface="Poppins" pitchFamily="34" charset="-122"/>
                <a:cs typeface="Poppins" pitchFamily="34" charset="-120"/>
              </a:rPr>
              <a:t>EIGEN FOTO</a:t>
            </a:r>
            <a:endParaRPr lang="en-US" sz="1100" dirty="0"/>
          </a:p>
        </p:txBody>
      </p:sp>
      <p:sp>
        <p:nvSpPr>
          <p:cNvPr id="17" name="Product PERFORMANCE ACADEMY"/>
          <p:cNvSpPr txBox="1"/>
          <p:nvPr/>
        </p:nvSpPr>
        <p:spPr>
          <a:xfrm>
            <a:off x="8138160" y="5532120"/>
            <a:ext cx="3520440" cy="457200"/>
          </a:xfrm>
          <a:prstGeom prst="rect">
            <a:avLst/>
          </a:prstGeom>
          <a:noFill/>
          <a:ln/>
        </p:spPr>
        <p:txBody>
          <a:bodyPr wrap="square" lIns="0" tIns="0" rIns="0" bIns="0" rtlCol="0" anchor="t"/>
          <a:lstStyle/>
          <a:p>
            <a:pPr marL="0" indent="0">
              <a:buNone/>
            </a:pPr>
            <a:r>
              <a:rPr lang="en-US" sz="1800" b="1" dirty="0">
                <a:solidFill>
                  <a:schemeClr val="bg1"/>
                </a:solidFill>
                <a:latin typeface="Poppins" pitchFamily="34" charset="0"/>
                <a:ea typeface="Poppins" pitchFamily="34" charset="-122"/>
                <a:cs typeface="Poppins" pitchFamily="34" charset="-120"/>
              </a:rPr>
              <a:t>PERFORMANCE ACADEMY</a:t>
            </a:r>
            <a:endParaRPr lang="en-US" sz="1800" dirty="0"/>
          </a:p>
        </p:txBody>
      </p:sp>
      <p:sp>
        <p:nvSpPr>
          <p:cNvPr id="18" name="Text 14"/>
          <p:cNvSpPr txBox="1"/>
          <p:nvPr/>
        </p:nvSpPr>
        <p:spPr>
          <a:xfrm>
            <a:off x="8138160" y="5989320"/>
            <a:ext cx="3520440" cy="365760"/>
          </a:xfrm>
          <a:prstGeom prst="rect">
            <a:avLst/>
          </a:prstGeom>
          <a:noFill/>
          <a:ln/>
        </p:spPr>
        <p:txBody>
          <a:bodyPr wrap="square" lIns="0" tIns="0" rIns="0" bIns="0" rtlCol="0" anchor="t"/>
          <a:lstStyle/>
          <a:p>
            <a:pPr marL="0" indent="0">
              <a:buNone/>
            </a:pPr>
            <a:r>
              <a:rPr lang="en-US" sz="1200" b="1" kern="0" spc="300" dirty="0">
                <a:solidFill>
                  <a:schemeClr val="accent1"/>
                </a:solidFill>
                <a:latin typeface="Poppins" pitchFamily="34" charset="0"/>
                <a:ea typeface="Poppins" pitchFamily="34" charset="-122"/>
                <a:cs typeface="Poppins" pitchFamily="34" charset="-120"/>
              </a:rPr>
              <a:t>COMMUNITY VAN SPORTERS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02920"/>
            <a:ext cx="11064240" cy="1097280"/>
          </a:xfrm>
          <a:prstGeom prst="rect">
            <a:avLst/>
          </a:prstGeom>
          <a:noFill/>
          <a:ln/>
        </p:spPr>
        <p:txBody>
          <a:bodyPr wrap="square" lIns="0" tIns="0" rIns="0" bIns="0" rtlCol="0" anchor="t"/>
          <a:lstStyle/>
          <a:p>
            <a:pPr marL="0" indent="0" algn="l">
              <a:buNone/>
            </a:pPr>
            <a:r>
              <a:rPr lang="en-US" sz="4400" b="1" dirty="0">
                <a:solidFill>
                  <a:schemeClr val="bg1"/>
                </a:solidFill>
                <a:latin typeface="Poppins" pitchFamily="34" charset="0"/>
                <a:ea typeface="Poppins" pitchFamily="34" charset="-122"/>
                <a:cs typeface="Poppins" pitchFamily="34" charset="-120"/>
              </a:rPr>
              <a:t>ONS PAD NAAR 2031</a:t>
            </a:r>
            <a:endParaRPr lang="en-US" sz="4400" dirty="0"/>
          </a:p>
        </p:txBody>
      </p:sp>
      <p:sp>
        <p:nvSpPr>
          <p:cNvPr id="3" name="Stat 2026–27"/>
          <p:cNvSpPr txBox="1"/>
          <p:nvPr/>
        </p:nvSpPr>
        <p:spPr>
          <a:xfrm>
            <a:off x="548640" y="1737360"/>
            <a:ext cx="3474720" cy="1097280"/>
          </a:xfrm>
          <a:prstGeom prst="rect">
            <a:avLst/>
          </a:prstGeom>
          <a:noFill/>
          <a:ln/>
        </p:spPr>
        <p:txBody>
          <a:bodyPr wrap="square" lIns="0" tIns="0" rIns="0" bIns="0" rtlCol="0" anchor="b"/>
          <a:lstStyle/>
          <a:p>
            <a:pPr marL="0" indent="0">
              <a:buNone/>
            </a:pPr>
            <a:r>
              <a:rPr lang="en-US" sz="5400" b="1" dirty="0">
                <a:solidFill>
                  <a:schemeClr val="accent1"/>
                </a:solidFill>
                <a:latin typeface="Poppins" pitchFamily="34" charset="0"/>
                <a:ea typeface="Poppins" pitchFamily="34" charset="-122"/>
                <a:cs typeface="Poppins" pitchFamily="34" charset="-120"/>
              </a:rPr>
              <a:t>2026–27</a:t>
            </a:r>
            <a:endParaRPr lang="en-US" sz="5400" dirty="0"/>
          </a:p>
        </p:txBody>
      </p:sp>
      <p:sp>
        <p:nvSpPr>
          <p:cNvPr id="4" name="Label 2026–27"/>
          <p:cNvSpPr txBox="1"/>
          <p:nvPr/>
        </p:nvSpPr>
        <p:spPr>
          <a:xfrm>
            <a:off x="548640" y="2880360"/>
            <a:ext cx="3474720" cy="640080"/>
          </a:xfrm>
          <a:prstGeom prst="rect">
            <a:avLst/>
          </a:prstGeom>
          <a:noFill/>
          <a:ln/>
        </p:spPr>
        <p:txBody>
          <a:bodyPr wrap="square" lIns="0" tIns="0" rIns="0" bIns="0" rtlCol="0" anchor="t"/>
          <a:lstStyle/>
          <a:p>
            <a:pPr marL="0" indent="0">
              <a:buNone/>
            </a:pPr>
            <a:r>
              <a:rPr lang="en-US" sz="1400" b="1" kern="0" spc="300" dirty="0">
                <a:solidFill>
                  <a:schemeClr val="bg1"/>
                </a:solidFill>
                <a:latin typeface="Poppins" pitchFamily="34" charset="0"/>
                <a:ea typeface="Poppins" pitchFamily="34" charset="-122"/>
                <a:cs typeface="Poppins" pitchFamily="34" charset="-120"/>
              </a:rPr>
              <a:t>OPSCHALEN B2B EN SUPPLY CHAIN</a:t>
            </a:r>
            <a:endParaRPr lang="en-US" sz="1400" dirty="0"/>
          </a:p>
        </p:txBody>
      </p:sp>
      <p:sp>
        <p:nvSpPr>
          <p:cNvPr id="5" name="Stat 2028–29"/>
          <p:cNvSpPr txBox="1"/>
          <p:nvPr/>
        </p:nvSpPr>
        <p:spPr>
          <a:xfrm>
            <a:off x="4297680" y="1737360"/>
            <a:ext cx="3474720" cy="1097280"/>
          </a:xfrm>
          <a:prstGeom prst="rect">
            <a:avLst/>
          </a:prstGeom>
          <a:noFill/>
          <a:ln/>
        </p:spPr>
        <p:txBody>
          <a:bodyPr wrap="square" lIns="0" tIns="0" rIns="0" bIns="0" rtlCol="0" anchor="b"/>
          <a:lstStyle/>
          <a:p>
            <a:pPr marL="0" indent="0">
              <a:buNone/>
            </a:pPr>
            <a:r>
              <a:rPr lang="en-US" sz="5400" b="1" dirty="0">
                <a:solidFill>
                  <a:schemeClr val="accent1"/>
                </a:solidFill>
                <a:latin typeface="Poppins" pitchFamily="34" charset="0"/>
                <a:ea typeface="Poppins" pitchFamily="34" charset="-122"/>
                <a:cs typeface="Poppins" pitchFamily="34" charset="-120"/>
              </a:rPr>
              <a:t>2028–29</a:t>
            </a:r>
            <a:endParaRPr lang="en-US" sz="5400" dirty="0"/>
          </a:p>
        </p:txBody>
      </p:sp>
      <p:sp>
        <p:nvSpPr>
          <p:cNvPr id="6" name="Label 2028–29"/>
          <p:cNvSpPr txBox="1"/>
          <p:nvPr/>
        </p:nvSpPr>
        <p:spPr>
          <a:xfrm>
            <a:off x="4297680" y="2880360"/>
            <a:ext cx="3474720" cy="640080"/>
          </a:xfrm>
          <a:prstGeom prst="rect">
            <a:avLst/>
          </a:prstGeom>
          <a:noFill/>
          <a:ln/>
        </p:spPr>
        <p:txBody>
          <a:bodyPr wrap="square" lIns="0" tIns="0" rIns="0" bIns="0" rtlCol="0" anchor="t"/>
          <a:lstStyle/>
          <a:p>
            <a:pPr marL="0" indent="0">
              <a:buNone/>
            </a:pPr>
            <a:r>
              <a:rPr lang="en-US" sz="1400" b="1" kern="0" spc="300" dirty="0">
                <a:solidFill>
                  <a:schemeClr val="bg1"/>
                </a:solidFill>
                <a:latin typeface="Poppins" pitchFamily="34" charset="0"/>
                <a:ea typeface="Poppins" pitchFamily="34" charset="-122"/>
                <a:cs typeface="Poppins" pitchFamily="34" charset="-120"/>
              </a:rPr>
              <a:t>LANDELIJK, PRO CLUBS, EU</a:t>
            </a:r>
            <a:endParaRPr lang="en-US" sz="1400" dirty="0"/>
          </a:p>
        </p:txBody>
      </p:sp>
      <p:sp>
        <p:nvSpPr>
          <p:cNvPr id="7" name="Stat 2031"/>
          <p:cNvSpPr txBox="1"/>
          <p:nvPr/>
        </p:nvSpPr>
        <p:spPr>
          <a:xfrm>
            <a:off x="8046720" y="1737360"/>
            <a:ext cx="3474720" cy="1097280"/>
          </a:xfrm>
          <a:prstGeom prst="rect">
            <a:avLst/>
          </a:prstGeom>
          <a:noFill/>
          <a:ln/>
        </p:spPr>
        <p:txBody>
          <a:bodyPr wrap="square" lIns="0" tIns="0" rIns="0" bIns="0" rtlCol="0" anchor="b"/>
          <a:lstStyle/>
          <a:p>
            <a:pPr marL="0" indent="0">
              <a:buNone/>
            </a:pPr>
            <a:r>
              <a:rPr lang="en-US" sz="5400" b="1" dirty="0">
                <a:solidFill>
                  <a:schemeClr val="accent1"/>
                </a:solidFill>
                <a:latin typeface="Poppins" pitchFamily="34" charset="0"/>
                <a:ea typeface="Poppins" pitchFamily="34" charset="-122"/>
                <a:cs typeface="Poppins" pitchFamily="34" charset="-120"/>
              </a:rPr>
              <a:t>2031</a:t>
            </a:r>
            <a:endParaRPr lang="en-US" sz="5400" dirty="0"/>
          </a:p>
        </p:txBody>
      </p:sp>
      <p:sp>
        <p:nvSpPr>
          <p:cNvPr id="8" name="Label 2031"/>
          <p:cNvSpPr txBox="1"/>
          <p:nvPr/>
        </p:nvSpPr>
        <p:spPr>
          <a:xfrm>
            <a:off x="8046720" y="2880360"/>
            <a:ext cx="3474720" cy="640080"/>
          </a:xfrm>
          <a:prstGeom prst="rect">
            <a:avLst/>
          </a:prstGeom>
          <a:noFill/>
          <a:ln/>
        </p:spPr>
        <p:txBody>
          <a:bodyPr wrap="square" lIns="0" tIns="0" rIns="0" bIns="0" rtlCol="0" anchor="t"/>
          <a:lstStyle/>
          <a:p>
            <a:pPr marL="0" indent="0">
              <a:buNone/>
            </a:pPr>
            <a:r>
              <a:rPr lang="en-US" sz="1400" b="1" kern="0" spc="300" dirty="0">
                <a:solidFill>
                  <a:schemeClr val="bg1"/>
                </a:solidFill>
                <a:latin typeface="Poppins" pitchFamily="34" charset="0"/>
                <a:ea typeface="Poppins" pitchFamily="34" charset="-122"/>
                <a:cs typeface="Poppins" pitchFamily="34" charset="-120"/>
              </a:rPr>
              <a:t>MARKTLEIDER IN NEDERLAND</a:t>
            </a:r>
            <a:endParaRPr lang="en-US" sz="1400" dirty="0"/>
          </a:p>
        </p:txBody>
      </p:sp>
      <p:pic>
        <p:nvPicPr>
          <p:cNvPr id="9" name="Foto slide-10-roadmap-rotterdam-business-school.jpg" descr="Rotterdam Business School, waar het begon"/>
          <p:cNvPicPr>
            <a:picLocks noChangeAspect="1"/>
          </p:cNvPicPr>
          <p:nvPr/>
        </p:nvPicPr>
        <p:blipFill>
          <a:blip r:embed="rId3"/>
          <a:stretch>
            <a:fillRect/>
          </a:stretch>
        </p:blipFill>
        <p:spPr>
          <a:xfrm>
            <a:off x="0" y="4526280"/>
            <a:ext cx="12188952" cy="2331720"/>
          </a:xfrm>
          <a:prstGeom prst="rect">
            <a:avLst/>
          </a:prstGeom>
        </p:spPr>
      </p:pic>
      <p:sp>
        <p:nvSpPr>
          <p:cNvPr id="10" name="Label foto-type"/>
          <p:cNvSpPr/>
          <p:nvPr/>
        </p:nvSpPr>
        <p:spPr>
          <a:xfrm>
            <a:off x="228600" y="4754880"/>
            <a:ext cx="1600200" cy="329184"/>
          </a:xfrm>
          <a:prstGeom prst="roundRect">
            <a:avLst>
              <a:gd name="adj" fmla="val 50000"/>
            </a:avLst>
          </a:prstGeom>
          <a:solidFill>
            <a:schemeClr val="accent1"/>
          </a:solidFill>
          <a:ln w="6350">
            <a:solidFill>
              <a:schemeClr val="accent1"/>
            </a:solidFill>
            <a:prstDash val="solid"/>
          </a:ln>
        </p:spPr>
        <p:txBody>
          <a:bodyPr/>
          <a:lstStyle/>
          <a:p>
            <a:endParaRPr lang="nl-NL"/>
          </a:p>
        </p:txBody>
      </p:sp>
      <p:sp>
        <p:nvSpPr>
          <p:cNvPr id="11" name="Label tekst"/>
          <p:cNvSpPr txBox="1"/>
          <p:nvPr/>
        </p:nvSpPr>
        <p:spPr>
          <a:xfrm>
            <a:off x="228600" y="4754880"/>
            <a:ext cx="1600200" cy="329184"/>
          </a:xfrm>
          <a:prstGeom prst="rect">
            <a:avLst/>
          </a:prstGeom>
          <a:noFill/>
          <a:ln/>
        </p:spPr>
        <p:txBody>
          <a:bodyPr wrap="square" lIns="0" tIns="0" rIns="0" bIns="0" rtlCol="0" anchor="ctr"/>
          <a:lstStyle/>
          <a:p>
            <a:pPr marL="0" indent="0" algn="ctr">
              <a:buNone/>
            </a:pPr>
            <a:r>
              <a:rPr lang="en-US" sz="1100" b="1" kern="0" spc="200" dirty="0">
                <a:solidFill>
                  <a:schemeClr val="tx1"/>
                </a:solidFill>
                <a:latin typeface="Poppins" pitchFamily="34" charset="0"/>
                <a:ea typeface="Poppins" pitchFamily="34" charset="-122"/>
                <a:cs typeface="Poppins" pitchFamily="34" charset="-120"/>
              </a:rPr>
              <a:t>EIGEN FOTO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02920"/>
            <a:ext cx="11064240" cy="1097280"/>
          </a:xfrm>
          <a:prstGeom prst="rect">
            <a:avLst/>
          </a:prstGeom>
          <a:noFill/>
          <a:ln/>
        </p:spPr>
        <p:txBody>
          <a:bodyPr wrap="square" lIns="0" tIns="0" rIns="0" bIns="0" rtlCol="0" anchor="t"/>
          <a:lstStyle/>
          <a:p>
            <a:pPr marL="0" indent="0" algn="l">
              <a:buNone/>
            </a:pPr>
            <a:r>
              <a:rPr lang="en-US" sz="4400" b="1" dirty="0">
                <a:solidFill>
                  <a:schemeClr val="tx1"/>
                </a:solidFill>
                <a:latin typeface="Poppins" pitchFamily="34" charset="0"/>
                <a:ea typeface="Poppins" pitchFamily="34" charset="-122"/>
                <a:cs typeface="Poppins" pitchFamily="34" charset="-120"/>
              </a:rPr>
              <a:t>WIJ ZIJN HÏ GRIP</a:t>
            </a:r>
            <a:endParaRPr lang="en-US" sz="4400" dirty="0"/>
          </a:p>
        </p:txBody>
      </p:sp>
      <p:pic>
        <p:nvPicPr>
          <p:cNvPr id="3" name="Foto slide-11-lars.jpg" descr="Lars tijdens een voetbalwedstrijd"/>
          <p:cNvPicPr>
            <a:picLocks noChangeAspect="1"/>
          </p:cNvPicPr>
          <p:nvPr/>
        </p:nvPicPr>
        <p:blipFill>
          <a:blip r:embed="rId3"/>
          <a:stretch>
            <a:fillRect/>
          </a:stretch>
        </p:blipFill>
        <p:spPr>
          <a:xfrm>
            <a:off x="548640" y="1783080"/>
            <a:ext cx="3520440" cy="3566160"/>
          </a:xfrm>
          <a:prstGeom prst="rect">
            <a:avLst/>
          </a:prstGeom>
        </p:spPr>
      </p:pic>
      <p:sp>
        <p:nvSpPr>
          <p:cNvPr id="4" name="Label foto-type"/>
          <p:cNvSpPr/>
          <p:nvPr/>
        </p:nvSpPr>
        <p:spPr>
          <a:xfrm>
            <a:off x="777240" y="2011680"/>
            <a:ext cx="1600200" cy="329184"/>
          </a:xfrm>
          <a:prstGeom prst="roundRect">
            <a:avLst>
              <a:gd name="adj" fmla="val 50000"/>
            </a:avLst>
          </a:prstGeom>
          <a:solidFill>
            <a:schemeClr val="accent1"/>
          </a:solidFill>
          <a:ln w="6350">
            <a:solidFill>
              <a:schemeClr val="accent1"/>
            </a:solidFill>
            <a:prstDash val="solid"/>
          </a:ln>
        </p:spPr>
        <p:txBody>
          <a:bodyPr/>
          <a:lstStyle/>
          <a:p>
            <a:endParaRPr lang="nl-NL"/>
          </a:p>
        </p:txBody>
      </p:sp>
      <p:sp>
        <p:nvSpPr>
          <p:cNvPr id="5" name="Label tekst"/>
          <p:cNvSpPr txBox="1"/>
          <p:nvPr/>
        </p:nvSpPr>
        <p:spPr>
          <a:xfrm>
            <a:off x="777240" y="2011680"/>
            <a:ext cx="1600200" cy="329184"/>
          </a:xfrm>
          <a:prstGeom prst="rect">
            <a:avLst/>
          </a:prstGeom>
          <a:noFill/>
          <a:ln/>
        </p:spPr>
        <p:txBody>
          <a:bodyPr wrap="square" lIns="0" tIns="0" rIns="0" bIns="0" rtlCol="0" anchor="ctr"/>
          <a:lstStyle/>
          <a:p>
            <a:pPr marL="0" indent="0" algn="ctr">
              <a:buNone/>
            </a:pPr>
            <a:r>
              <a:rPr lang="en-US" sz="1100" b="1" kern="0" spc="200" dirty="0">
                <a:solidFill>
                  <a:schemeClr val="tx1"/>
                </a:solidFill>
                <a:latin typeface="Poppins" pitchFamily="34" charset="0"/>
                <a:ea typeface="Poppins" pitchFamily="34" charset="-122"/>
                <a:cs typeface="Poppins" pitchFamily="34" charset="-120"/>
              </a:rPr>
              <a:t>EIGEN FOTO</a:t>
            </a:r>
            <a:endParaRPr lang="en-US" sz="1100" dirty="0"/>
          </a:p>
        </p:txBody>
      </p:sp>
      <p:sp>
        <p:nvSpPr>
          <p:cNvPr id="6" name="Founder LARS CRETZ"/>
          <p:cNvSpPr txBox="1"/>
          <p:nvPr/>
        </p:nvSpPr>
        <p:spPr>
          <a:xfrm>
            <a:off x="548640" y="5532120"/>
            <a:ext cx="3520440" cy="457200"/>
          </a:xfrm>
          <a:prstGeom prst="rect">
            <a:avLst/>
          </a:prstGeom>
          <a:noFill/>
          <a:ln/>
        </p:spPr>
        <p:txBody>
          <a:bodyPr wrap="square" lIns="0" tIns="0" rIns="0" bIns="0" rtlCol="0" anchor="t"/>
          <a:lstStyle/>
          <a:p>
            <a:pPr marL="0" indent="0">
              <a:buNone/>
            </a:pPr>
            <a:r>
              <a:rPr lang="en-US" sz="2200" b="1" dirty="0">
                <a:solidFill>
                  <a:schemeClr val="tx1"/>
                </a:solidFill>
                <a:latin typeface="Poppins" pitchFamily="34" charset="0"/>
                <a:ea typeface="Poppins" pitchFamily="34" charset="-122"/>
                <a:cs typeface="Poppins" pitchFamily="34" charset="-120"/>
              </a:rPr>
              <a:t>LARS CRETZ</a:t>
            </a:r>
            <a:endParaRPr lang="en-US" sz="2200" dirty="0"/>
          </a:p>
        </p:txBody>
      </p:sp>
      <p:sp>
        <p:nvSpPr>
          <p:cNvPr id="7" name="Text 4"/>
          <p:cNvSpPr txBox="1"/>
          <p:nvPr/>
        </p:nvSpPr>
        <p:spPr>
          <a:xfrm>
            <a:off x="548640" y="6035040"/>
            <a:ext cx="3520440" cy="365760"/>
          </a:xfrm>
          <a:prstGeom prst="rect">
            <a:avLst/>
          </a:prstGeom>
          <a:noFill/>
          <a:ln/>
        </p:spPr>
        <p:txBody>
          <a:bodyPr wrap="square" lIns="0" tIns="0" rIns="0" bIns="0" rtlCol="0" anchor="t"/>
          <a:lstStyle/>
          <a:p>
            <a:pPr marL="0" indent="0">
              <a:buNone/>
            </a:pPr>
            <a:r>
              <a:rPr lang="en-US" sz="1200" b="1" kern="0" spc="300" dirty="0">
                <a:solidFill>
                  <a:schemeClr val="accent6"/>
                </a:solidFill>
                <a:latin typeface="Poppins" pitchFamily="34" charset="0"/>
                <a:ea typeface="Poppins" pitchFamily="34" charset="-122"/>
                <a:cs typeface="Poppins" pitchFamily="34" charset="-120"/>
              </a:rPr>
              <a:t>FINANCE, DESIGN, ADS, AI</a:t>
            </a:r>
            <a:endParaRPr lang="en-US" sz="1200" dirty="0"/>
          </a:p>
        </p:txBody>
      </p:sp>
      <p:pic>
        <p:nvPicPr>
          <p:cNvPr id="8" name="Foto slide-11-tigo.jpg" descr="Tigo op het voetbalveld"/>
          <p:cNvPicPr>
            <a:picLocks noChangeAspect="1"/>
          </p:cNvPicPr>
          <p:nvPr/>
        </p:nvPicPr>
        <p:blipFill>
          <a:blip r:embed="rId4"/>
          <a:stretch>
            <a:fillRect/>
          </a:stretch>
        </p:blipFill>
        <p:spPr>
          <a:xfrm>
            <a:off x="4343400" y="1783080"/>
            <a:ext cx="3520440" cy="3566160"/>
          </a:xfrm>
          <a:prstGeom prst="rect">
            <a:avLst/>
          </a:prstGeom>
        </p:spPr>
      </p:pic>
      <p:sp>
        <p:nvSpPr>
          <p:cNvPr id="9" name="Label foto-type"/>
          <p:cNvSpPr/>
          <p:nvPr/>
        </p:nvSpPr>
        <p:spPr>
          <a:xfrm>
            <a:off x="4572000" y="2011680"/>
            <a:ext cx="1600200" cy="329184"/>
          </a:xfrm>
          <a:prstGeom prst="roundRect">
            <a:avLst>
              <a:gd name="adj" fmla="val 50000"/>
            </a:avLst>
          </a:prstGeom>
          <a:solidFill>
            <a:schemeClr val="accent1"/>
          </a:solidFill>
          <a:ln w="6350">
            <a:solidFill>
              <a:schemeClr val="accent1"/>
            </a:solidFill>
            <a:prstDash val="solid"/>
          </a:ln>
        </p:spPr>
        <p:txBody>
          <a:bodyPr/>
          <a:lstStyle/>
          <a:p>
            <a:endParaRPr lang="nl-NL"/>
          </a:p>
        </p:txBody>
      </p:sp>
      <p:sp>
        <p:nvSpPr>
          <p:cNvPr id="10" name="Label tekst"/>
          <p:cNvSpPr txBox="1"/>
          <p:nvPr/>
        </p:nvSpPr>
        <p:spPr>
          <a:xfrm>
            <a:off x="4572000" y="2011680"/>
            <a:ext cx="1600200" cy="329184"/>
          </a:xfrm>
          <a:prstGeom prst="rect">
            <a:avLst/>
          </a:prstGeom>
          <a:noFill/>
          <a:ln/>
        </p:spPr>
        <p:txBody>
          <a:bodyPr wrap="square" lIns="0" tIns="0" rIns="0" bIns="0" rtlCol="0" anchor="ctr"/>
          <a:lstStyle/>
          <a:p>
            <a:pPr marL="0" indent="0" algn="ctr">
              <a:buNone/>
            </a:pPr>
            <a:r>
              <a:rPr lang="en-US" sz="1100" b="1" kern="0" spc="200" dirty="0">
                <a:solidFill>
                  <a:schemeClr val="tx1"/>
                </a:solidFill>
                <a:latin typeface="Poppins" pitchFamily="34" charset="0"/>
                <a:ea typeface="Poppins" pitchFamily="34" charset="-122"/>
                <a:cs typeface="Poppins" pitchFamily="34" charset="-120"/>
              </a:rPr>
              <a:t>EIGEN FOTO</a:t>
            </a:r>
            <a:endParaRPr lang="en-US" sz="1100" dirty="0"/>
          </a:p>
        </p:txBody>
      </p:sp>
      <p:sp>
        <p:nvSpPr>
          <p:cNvPr id="11" name="Founder TIGO TWIGT"/>
          <p:cNvSpPr txBox="1"/>
          <p:nvPr/>
        </p:nvSpPr>
        <p:spPr>
          <a:xfrm>
            <a:off x="4343400" y="5532120"/>
            <a:ext cx="3520440" cy="457200"/>
          </a:xfrm>
          <a:prstGeom prst="rect">
            <a:avLst/>
          </a:prstGeom>
          <a:noFill/>
          <a:ln/>
        </p:spPr>
        <p:txBody>
          <a:bodyPr wrap="square" lIns="0" tIns="0" rIns="0" bIns="0" rtlCol="0" anchor="t"/>
          <a:lstStyle/>
          <a:p>
            <a:pPr marL="0" indent="0">
              <a:buNone/>
            </a:pPr>
            <a:r>
              <a:rPr lang="en-US" sz="2200" b="1" dirty="0">
                <a:solidFill>
                  <a:schemeClr val="tx1"/>
                </a:solidFill>
                <a:latin typeface="Poppins" pitchFamily="34" charset="0"/>
                <a:ea typeface="Poppins" pitchFamily="34" charset="-122"/>
                <a:cs typeface="Poppins" pitchFamily="34" charset="-120"/>
              </a:rPr>
              <a:t>TIGO TWIGT</a:t>
            </a:r>
            <a:endParaRPr lang="en-US" sz="2200" dirty="0"/>
          </a:p>
        </p:txBody>
      </p:sp>
      <p:sp>
        <p:nvSpPr>
          <p:cNvPr id="12" name="Text 8"/>
          <p:cNvSpPr txBox="1"/>
          <p:nvPr/>
        </p:nvSpPr>
        <p:spPr>
          <a:xfrm>
            <a:off x="4343400" y="6035040"/>
            <a:ext cx="3520440" cy="365760"/>
          </a:xfrm>
          <a:prstGeom prst="rect">
            <a:avLst/>
          </a:prstGeom>
          <a:noFill/>
          <a:ln/>
        </p:spPr>
        <p:txBody>
          <a:bodyPr wrap="square" lIns="0" tIns="0" rIns="0" bIns="0" rtlCol="0" anchor="t"/>
          <a:lstStyle/>
          <a:p>
            <a:pPr marL="0" indent="0">
              <a:buNone/>
            </a:pPr>
            <a:r>
              <a:rPr lang="en-US" sz="1200" b="1" kern="0" spc="300" dirty="0">
                <a:solidFill>
                  <a:schemeClr val="accent6"/>
                </a:solidFill>
                <a:latin typeface="Poppins" pitchFamily="34" charset="0"/>
                <a:ea typeface="Poppins" pitchFamily="34" charset="-122"/>
                <a:cs typeface="Poppins" pitchFamily="34" charset="-120"/>
              </a:rPr>
              <a:t>SALES, B2B, WEBSITE</a:t>
            </a:r>
            <a:endParaRPr lang="en-US" sz="1200" dirty="0"/>
          </a:p>
        </p:txBody>
      </p:sp>
      <p:pic>
        <p:nvPicPr>
          <p:cNvPr id="13" name="Foto slide-11-timo.jpg" descr="Timo snowboardend in de sneeuw"/>
          <p:cNvPicPr>
            <a:picLocks noChangeAspect="1"/>
          </p:cNvPicPr>
          <p:nvPr/>
        </p:nvPicPr>
        <p:blipFill>
          <a:blip r:embed="rId5"/>
          <a:stretch>
            <a:fillRect/>
          </a:stretch>
        </p:blipFill>
        <p:spPr>
          <a:xfrm>
            <a:off x="8138160" y="1783080"/>
            <a:ext cx="3520440" cy="3566160"/>
          </a:xfrm>
          <a:prstGeom prst="rect">
            <a:avLst/>
          </a:prstGeom>
        </p:spPr>
      </p:pic>
      <p:sp>
        <p:nvSpPr>
          <p:cNvPr id="14" name="Label foto-type"/>
          <p:cNvSpPr/>
          <p:nvPr/>
        </p:nvSpPr>
        <p:spPr>
          <a:xfrm>
            <a:off x="8366760" y="2011680"/>
            <a:ext cx="1600200" cy="329184"/>
          </a:xfrm>
          <a:prstGeom prst="roundRect">
            <a:avLst>
              <a:gd name="adj" fmla="val 50000"/>
            </a:avLst>
          </a:prstGeom>
          <a:solidFill>
            <a:schemeClr val="accent1"/>
          </a:solidFill>
          <a:ln w="6350">
            <a:solidFill>
              <a:schemeClr val="accent1"/>
            </a:solidFill>
            <a:prstDash val="solid"/>
          </a:ln>
        </p:spPr>
        <p:txBody>
          <a:bodyPr/>
          <a:lstStyle/>
          <a:p>
            <a:endParaRPr lang="nl-NL"/>
          </a:p>
        </p:txBody>
      </p:sp>
      <p:sp>
        <p:nvSpPr>
          <p:cNvPr id="15" name="Label tekst"/>
          <p:cNvSpPr txBox="1"/>
          <p:nvPr/>
        </p:nvSpPr>
        <p:spPr>
          <a:xfrm>
            <a:off x="8366760" y="2011680"/>
            <a:ext cx="1600200" cy="329184"/>
          </a:xfrm>
          <a:prstGeom prst="rect">
            <a:avLst/>
          </a:prstGeom>
          <a:noFill/>
          <a:ln/>
        </p:spPr>
        <p:txBody>
          <a:bodyPr wrap="square" lIns="0" tIns="0" rIns="0" bIns="0" rtlCol="0" anchor="ctr"/>
          <a:lstStyle/>
          <a:p>
            <a:pPr marL="0" indent="0" algn="ctr">
              <a:buNone/>
            </a:pPr>
            <a:r>
              <a:rPr lang="en-US" sz="1100" b="1" kern="0" spc="200" dirty="0">
                <a:solidFill>
                  <a:schemeClr val="tx1"/>
                </a:solidFill>
                <a:latin typeface="Poppins" pitchFamily="34" charset="0"/>
                <a:ea typeface="Poppins" pitchFamily="34" charset="-122"/>
                <a:cs typeface="Poppins" pitchFamily="34" charset="-120"/>
              </a:rPr>
              <a:t>EIGEN FOTO</a:t>
            </a:r>
            <a:endParaRPr lang="en-US" sz="1100" dirty="0"/>
          </a:p>
        </p:txBody>
      </p:sp>
      <p:sp>
        <p:nvSpPr>
          <p:cNvPr id="16" name="Founder TIMO HEIJLIGERS"/>
          <p:cNvSpPr txBox="1"/>
          <p:nvPr/>
        </p:nvSpPr>
        <p:spPr>
          <a:xfrm>
            <a:off x="8138160" y="5532120"/>
            <a:ext cx="3520440" cy="457200"/>
          </a:xfrm>
          <a:prstGeom prst="rect">
            <a:avLst/>
          </a:prstGeom>
          <a:noFill/>
          <a:ln/>
        </p:spPr>
        <p:txBody>
          <a:bodyPr wrap="square" lIns="0" tIns="0" rIns="0" bIns="0" rtlCol="0" anchor="t"/>
          <a:lstStyle/>
          <a:p>
            <a:pPr marL="0" indent="0">
              <a:buNone/>
            </a:pPr>
            <a:r>
              <a:rPr lang="en-US" sz="2200" b="1" dirty="0">
                <a:solidFill>
                  <a:schemeClr val="tx1"/>
                </a:solidFill>
                <a:latin typeface="Poppins" pitchFamily="34" charset="0"/>
                <a:ea typeface="Poppins" pitchFamily="34" charset="-122"/>
                <a:cs typeface="Poppins" pitchFamily="34" charset="-120"/>
              </a:rPr>
              <a:t>TIMO HEIJLIGERS</a:t>
            </a:r>
            <a:endParaRPr lang="en-US" sz="2200" dirty="0"/>
          </a:p>
        </p:txBody>
      </p:sp>
      <p:sp>
        <p:nvSpPr>
          <p:cNvPr id="17" name="Text 12"/>
          <p:cNvSpPr txBox="1"/>
          <p:nvPr/>
        </p:nvSpPr>
        <p:spPr>
          <a:xfrm>
            <a:off x="8138160" y="6035040"/>
            <a:ext cx="3520440" cy="365760"/>
          </a:xfrm>
          <a:prstGeom prst="rect">
            <a:avLst/>
          </a:prstGeom>
          <a:noFill/>
          <a:ln/>
        </p:spPr>
        <p:txBody>
          <a:bodyPr wrap="square" lIns="0" tIns="0" rIns="0" bIns="0" rtlCol="0" anchor="t"/>
          <a:lstStyle/>
          <a:p>
            <a:pPr marL="0" indent="0">
              <a:buNone/>
            </a:pPr>
            <a:r>
              <a:rPr lang="en-US" sz="1200" b="1" kern="0" spc="300" dirty="0">
                <a:solidFill>
                  <a:schemeClr val="accent6"/>
                </a:solidFill>
                <a:latin typeface="Poppins" pitchFamily="34" charset="0"/>
                <a:ea typeface="Poppins" pitchFamily="34" charset="-122"/>
                <a:cs typeface="Poppins" pitchFamily="34" charset="-120"/>
              </a:rPr>
              <a:t>INKOOP, IMPORT, B2B</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Foto slide-12-pitch-auditorium.jpg" descr="Wij pitchen HÏ Grip in een volle aula"/>
          <p:cNvPicPr>
            <a:picLocks noChangeAspect="1"/>
          </p:cNvPicPr>
          <p:nvPr/>
        </p:nvPicPr>
        <p:blipFill>
          <a:blip r:embed="rId3"/>
          <a:stretch>
            <a:fillRect/>
          </a:stretch>
        </p:blipFill>
        <p:spPr>
          <a:xfrm>
            <a:off x="6400800" y="0"/>
            <a:ext cx="5788152" cy="6858000"/>
          </a:xfrm>
          <a:prstGeom prst="rect">
            <a:avLst/>
          </a:prstGeom>
        </p:spPr>
      </p:pic>
      <p:sp>
        <p:nvSpPr>
          <p:cNvPr id="3" name="Label foto-type"/>
          <p:cNvSpPr/>
          <p:nvPr/>
        </p:nvSpPr>
        <p:spPr>
          <a:xfrm>
            <a:off x="6629400" y="228600"/>
            <a:ext cx="1600200" cy="329184"/>
          </a:xfrm>
          <a:prstGeom prst="roundRect">
            <a:avLst>
              <a:gd name="adj" fmla="val 50000"/>
            </a:avLst>
          </a:prstGeom>
          <a:solidFill>
            <a:schemeClr val="accent1"/>
          </a:solidFill>
          <a:ln w="6350">
            <a:solidFill>
              <a:schemeClr val="accent1"/>
            </a:solidFill>
            <a:prstDash val="solid"/>
          </a:ln>
        </p:spPr>
        <p:txBody>
          <a:bodyPr/>
          <a:lstStyle/>
          <a:p>
            <a:endParaRPr lang="nl-NL"/>
          </a:p>
        </p:txBody>
      </p:sp>
      <p:sp>
        <p:nvSpPr>
          <p:cNvPr id="4" name="Label tekst"/>
          <p:cNvSpPr txBox="1"/>
          <p:nvPr/>
        </p:nvSpPr>
        <p:spPr>
          <a:xfrm>
            <a:off x="6629400" y="228600"/>
            <a:ext cx="1600200" cy="329184"/>
          </a:xfrm>
          <a:prstGeom prst="rect">
            <a:avLst/>
          </a:prstGeom>
          <a:noFill/>
          <a:ln/>
        </p:spPr>
        <p:txBody>
          <a:bodyPr wrap="square" lIns="0" tIns="0" rIns="0" bIns="0" rtlCol="0" anchor="ctr"/>
          <a:lstStyle/>
          <a:p>
            <a:pPr marL="0" indent="0" algn="ctr">
              <a:buNone/>
            </a:pPr>
            <a:r>
              <a:rPr lang="en-US" sz="1100" b="1" kern="0" spc="200" dirty="0">
                <a:solidFill>
                  <a:schemeClr val="tx1"/>
                </a:solidFill>
                <a:latin typeface="Poppins" pitchFamily="34" charset="0"/>
                <a:ea typeface="Poppins" pitchFamily="34" charset="-122"/>
                <a:cs typeface="Poppins" pitchFamily="34" charset="-120"/>
              </a:rPr>
              <a:t>EIGEN FOTO</a:t>
            </a:r>
            <a:endParaRPr lang="en-US" sz="1100" dirty="0"/>
          </a:p>
        </p:txBody>
      </p:sp>
      <p:sp>
        <p:nvSpPr>
          <p:cNvPr id="5" name="Text 0"/>
          <p:cNvSpPr>
            <a:spLocks noGrp="1"/>
          </p:cNvSpPr>
          <p:nvPr>
            <p:ph type="title" idx="100" hasCustomPrompt="1"/>
          </p:nvPr>
        </p:nvSpPr>
        <p:spPr>
          <a:xfrm>
            <a:off x="548640" y="502920"/>
            <a:ext cx="5669280" cy="1371600"/>
          </a:xfrm>
          <a:prstGeom prst="rect">
            <a:avLst/>
          </a:prstGeom>
          <a:noFill/>
          <a:ln/>
        </p:spPr>
        <p:txBody>
          <a:bodyPr wrap="square" lIns="0" tIns="0" rIns="0" bIns="0" rtlCol="0" anchor="t"/>
          <a:lstStyle/>
          <a:p>
            <a:pPr marL="0" indent="0" algn="l">
              <a:buNone/>
            </a:pPr>
            <a:r>
              <a:rPr lang="en-US" sz="4000" b="1" dirty="0">
                <a:solidFill>
                  <a:schemeClr val="bg1"/>
                </a:solidFill>
                <a:latin typeface="Poppins" pitchFamily="34" charset="0"/>
                <a:ea typeface="Poppins" pitchFamily="34" charset="-122"/>
                <a:cs typeface="Poppins" pitchFamily="34" charset="-120"/>
              </a:rPr>
              <a:t>WE STAAN NIET ALLEEN</a:t>
            </a:r>
            <a:endParaRPr lang="en-US" sz="4000" dirty="0"/>
          </a:p>
        </p:txBody>
      </p:sp>
      <p:sp>
        <p:nvSpPr>
          <p:cNvPr id="6" name="Blok DENZEL"/>
          <p:cNvSpPr txBox="1"/>
          <p:nvPr/>
        </p:nvSpPr>
        <p:spPr>
          <a:xfrm>
            <a:off x="548640" y="2194560"/>
            <a:ext cx="5669280" cy="548640"/>
          </a:xfrm>
          <a:prstGeom prst="rect">
            <a:avLst/>
          </a:prstGeom>
          <a:noFill/>
          <a:ln/>
        </p:spPr>
        <p:txBody>
          <a:bodyPr wrap="square" lIns="0" tIns="0" rIns="0" bIns="0" rtlCol="0" anchor="t"/>
          <a:lstStyle/>
          <a:p>
            <a:pPr marL="0" indent="0">
              <a:buNone/>
            </a:pPr>
            <a:r>
              <a:rPr lang="en-US" sz="2800" b="1" dirty="0">
                <a:solidFill>
                  <a:schemeClr val="accent1"/>
                </a:solidFill>
                <a:latin typeface="Poppins" pitchFamily="34" charset="0"/>
                <a:ea typeface="Poppins" pitchFamily="34" charset="-122"/>
                <a:cs typeface="Poppins" pitchFamily="34" charset="-120"/>
              </a:rPr>
              <a:t>DENZEL</a:t>
            </a:r>
            <a:endParaRPr lang="en-US" sz="2800" dirty="0"/>
          </a:p>
        </p:txBody>
      </p:sp>
      <p:sp>
        <p:nvSpPr>
          <p:cNvPr id="7" name="Text 4"/>
          <p:cNvSpPr txBox="1"/>
          <p:nvPr/>
        </p:nvSpPr>
        <p:spPr>
          <a:xfrm>
            <a:off x="548640" y="2788920"/>
            <a:ext cx="5669280" cy="365760"/>
          </a:xfrm>
          <a:prstGeom prst="rect">
            <a:avLst/>
          </a:prstGeom>
          <a:noFill/>
          <a:ln/>
        </p:spPr>
        <p:txBody>
          <a:bodyPr wrap="square" lIns="0" tIns="0" rIns="0" bIns="0" rtlCol="0" anchor="t"/>
          <a:lstStyle/>
          <a:p>
            <a:pPr marL="0" indent="0">
              <a:buNone/>
            </a:pPr>
            <a:r>
              <a:rPr lang="en-US" sz="1200" b="1" kern="0" spc="300" dirty="0">
                <a:solidFill>
                  <a:schemeClr val="bg1"/>
                </a:solidFill>
                <a:latin typeface="Poppins" pitchFamily="34" charset="0"/>
                <a:ea typeface="Poppins" pitchFamily="34" charset="-122"/>
                <a:cs typeface="Poppins" pitchFamily="34" charset="-120"/>
              </a:rPr>
              <a:t>AI-TEAMLID, 24/7</a:t>
            </a:r>
            <a:endParaRPr lang="en-US" sz="1200" dirty="0"/>
          </a:p>
        </p:txBody>
      </p:sp>
      <p:sp>
        <p:nvSpPr>
          <p:cNvPr id="8" name="Blok 4 COACHES"/>
          <p:cNvSpPr txBox="1"/>
          <p:nvPr/>
        </p:nvSpPr>
        <p:spPr>
          <a:xfrm>
            <a:off x="548640" y="3566160"/>
            <a:ext cx="5669280" cy="548640"/>
          </a:xfrm>
          <a:prstGeom prst="rect">
            <a:avLst/>
          </a:prstGeom>
          <a:noFill/>
          <a:ln/>
        </p:spPr>
        <p:txBody>
          <a:bodyPr wrap="square" lIns="0" tIns="0" rIns="0" bIns="0" rtlCol="0" anchor="t"/>
          <a:lstStyle/>
          <a:p>
            <a:pPr marL="0" indent="0">
              <a:buNone/>
            </a:pPr>
            <a:r>
              <a:rPr lang="en-US" sz="2800" b="1" dirty="0">
                <a:solidFill>
                  <a:schemeClr val="accent1"/>
                </a:solidFill>
                <a:latin typeface="Poppins" pitchFamily="34" charset="0"/>
                <a:ea typeface="Poppins" pitchFamily="34" charset="-122"/>
                <a:cs typeface="Poppins" pitchFamily="34" charset="-120"/>
              </a:rPr>
              <a:t>4 COACHES</a:t>
            </a:r>
            <a:endParaRPr lang="en-US" sz="2800" dirty="0"/>
          </a:p>
        </p:txBody>
      </p:sp>
      <p:sp>
        <p:nvSpPr>
          <p:cNvPr id="9" name="Text 6"/>
          <p:cNvSpPr txBox="1"/>
          <p:nvPr/>
        </p:nvSpPr>
        <p:spPr>
          <a:xfrm>
            <a:off x="548640" y="4160520"/>
            <a:ext cx="5669280" cy="365760"/>
          </a:xfrm>
          <a:prstGeom prst="rect">
            <a:avLst/>
          </a:prstGeom>
          <a:noFill/>
          <a:ln/>
        </p:spPr>
        <p:txBody>
          <a:bodyPr wrap="square" lIns="0" tIns="0" rIns="0" bIns="0" rtlCol="0" anchor="t"/>
          <a:lstStyle/>
          <a:p>
            <a:pPr marL="0" indent="0">
              <a:buNone/>
            </a:pPr>
            <a:r>
              <a:rPr lang="en-US" sz="1200" b="1" kern="0" spc="300" dirty="0">
                <a:solidFill>
                  <a:schemeClr val="bg1"/>
                </a:solidFill>
                <a:latin typeface="Poppins" pitchFamily="34" charset="0"/>
                <a:ea typeface="Poppins" pitchFamily="34" charset="-122"/>
                <a:cs typeface="Poppins" pitchFamily="34" charset="-120"/>
              </a:rPr>
              <a:t>HANS · BIANCA · ROBERT · JEROEN</a:t>
            </a:r>
            <a:endParaRPr lang="en-US" sz="1200" dirty="0"/>
          </a:p>
        </p:txBody>
      </p:sp>
      <p:sp>
        <p:nvSpPr>
          <p:cNvPr id="10" name="Blok NAAST ONZE STUDIE"/>
          <p:cNvSpPr txBox="1"/>
          <p:nvPr/>
        </p:nvSpPr>
        <p:spPr>
          <a:xfrm>
            <a:off x="548640" y="4937760"/>
            <a:ext cx="5669280" cy="548640"/>
          </a:xfrm>
          <a:prstGeom prst="rect">
            <a:avLst/>
          </a:prstGeom>
          <a:noFill/>
          <a:ln/>
        </p:spPr>
        <p:txBody>
          <a:bodyPr wrap="square" lIns="0" tIns="0" rIns="0" bIns="0" rtlCol="0" anchor="t"/>
          <a:lstStyle/>
          <a:p>
            <a:pPr marL="0" indent="0">
              <a:buNone/>
            </a:pPr>
            <a:r>
              <a:rPr lang="en-US" sz="2800" b="1" dirty="0">
                <a:solidFill>
                  <a:schemeClr val="accent1"/>
                </a:solidFill>
                <a:latin typeface="Poppins" pitchFamily="34" charset="0"/>
                <a:ea typeface="Poppins" pitchFamily="34" charset="-122"/>
                <a:cs typeface="Poppins" pitchFamily="34" charset="-120"/>
              </a:rPr>
              <a:t>NAAST ONZE STUDIE</a:t>
            </a:r>
            <a:endParaRPr lang="en-US" sz="2800" dirty="0"/>
          </a:p>
        </p:txBody>
      </p:sp>
      <p:sp>
        <p:nvSpPr>
          <p:cNvPr id="11" name="Text 8"/>
          <p:cNvSpPr txBox="1"/>
          <p:nvPr/>
        </p:nvSpPr>
        <p:spPr>
          <a:xfrm>
            <a:off x="548640" y="5532120"/>
            <a:ext cx="5669280" cy="365760"/>
          </a:xfrm>
          <a:prstGeom prst="rect">
            <a:avLst/>
          </a:prstGeom>
          <a:noFill/>
          <a:ln/>
        </p:spPr>
        <p:txBody>
          <a:bodyPr wrap="square" lIns="0" tIns="0" rIns="0" bIns="0" rtlCol="0" anchor="t"/>
          <a:lstStyle/>
          <a:p>
            <a:pPr marL="0" indent="0">
              <a:buNone/>
            </a:pPr>
            <a:r>
              <a:rPr lang="en-US" sz="1200" b="1" kern="0" spc="300" dirty="0">
                <a:solidFill>
                  <a:schemeClr val="bg1"/>
                </a:solidFill>
                <a:latin typeface="Poppins" pitchFamily="34" charset="0"/>
                <a:ea typeface="Poppins" pitchFamily="34" charset="-122"/>
                <a:cs typeface="Poppins" pitchFamily="34" charset="-120"/>
              </a:rPr>
              <a:t>GEBOUWD DOOR DRIE FOUNDERS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02920"/>
            <a:ext cx="11064240" cy="1097280"/>
          </a:xfrm>
          <a:prstGeom prst="rect">
            <a:avLst/>
          </a:prstGeom>
          <a:noFill/>
          <a:ln/>
        </p:spPr>
        <p:txBody>
          <a:bodyPr wrap="square" lIns="0" tIns="0" rIns="0" bIns="0" rtlCol="0" anchor="t"/>
          <a:lstStyle/>
          <a:p>
            <a:pPr marL="0" indent="0" algn="l">
              <a:buNone/>
            </a:pPr>
            <a:r>
              <a:rPr lang="en-US" sz="4400" b="1" dirty="0">
                <a:solidFill>
                  <a:schemeClr val="bg1"/>
                </a:solidFill>
                <a:latin typeface="Poppins" pitchFamily="34" charset="0"/>
                <a:ea typeface="Poppins" pitchFamily="34" charset="-122"/>
                <a:cs typeface="Poppins" pitchFamily="34" charset="-120"/>
              </a:rPr>
              <a:t>WAT GROEI VRAAGT</a:t>
            </a:r>
            <a:endParaRPr lang="en-US" sz="4400" dirty="0"/>
          </a:p>
        </p:txBody>
      </p:sp>
      <p:sp>
        <p:nvSpPr>
          <p:cNvPr id="3" name="Stat €25.100"/>
          <p:cNvSpPr txBox="1"/>
          <p:nvPr/>
        </p:nvSpPr>
        <p:spPr>
          <a:xfrm>
            <a:off x="548640" y="2194560"/>
            <a:ext cx="3474720" cy="1371600"/>
          </a:xfrm>
          <a:prstGeom prst="rect">
            <a:avLst/>
          </a:prstGeom>
          <a:noFill/>
          <a:ln/>
        </p:spPr>
        <p:txBody>
          <a:bodyPr wrap="square" lIns="0" tIns="0" rIns="0" bIns="0" rtlCol="0" anchor="b"/>
          <a:lstStyle/>
          <a:p>
            <a:pPr marL="0" indent="0">
              <a:buNone/>
            </a:pPr>
            <a:r>
              <a:rPr lang="en-US" sz="4800" b="1" dirty="0">
                <a:solidFill>
                  <a:schemeClr val="accent1"/>
                </a:solidFill>
                <a:latin typeface="Poppins" pitchFamily="34" charset="0"/>
                <a:ea typeface="Poppins" pitchFamily="34" charset="-122"/>
                <a:cs typeface="Poppins" pitchFamily="34" charset="-120"/>
              </a:rPr>
              <a:t>€25.100</a:t>
            </a:r>
            <a:endParaRPr lang="en-US" sz="4800" dirty="0"/>
          </a:p>
        </p:txBody>
      </p:sp>
      <p:sp>
        <p:nvSpPr>
          <p:cNvPr id="4" name="Label €25.100"/>
          <p:cNvSpPr txBox="1"/>
          <p:nvPr/>
        </p:nvSpPr>
        <p:spPr>
          <a:xfrm>
            <a:off x="548640" y="3611880"/>
            <a:ext cx="3474720" cy="640080"/>
          </a:xfrm>
          <a:prstGeom prst="rect">
            <a:avLst/>
          </a:prstGeom>
          <a:noFill/>
          <a:ln/>
        </p:spPr>
        <p:txBody>
          <a:bodyPr wrap="square" lIns="0" tIns="0" rIns="0" bIns="0" rtlCol="0" anchor="t"/>
          <a:lstStyle/>
          <a:p>
            <a:pPr marL="0" indent="0">
              <a:buNone/>
            </a:pPr>
            <a:r>
              <a:rPr lang="en-US" sz="1400" b="1" kern="0" spc="300" dirty="0">
                <a:solidFill>
                  <a:schemeClr val="bg1"/>
                </a:solidFill>
                <a:latin typeface="Poppins" pitchFamily="34" charset="0"/>
                <a:ea typeface="Poppins" pitchFamily="34" charset="-122"/>
                <a:cs typeface="Poppins" pitchFamily="34" charset="-120"/>
              </a:rPr>
              <a:t>2027</a:t>
            </a:r>
            <a:endParaRPr lang="en-US" sz="1400" dirty="0"/>
          </a:p>
        </p:txBody>
      </p:sp>
      <p:sp>
        <p:nvSpPr>
          <p:cNvPr id="5" name="Stat €172.100"/>
          <p:cNvSpPr txBox="1"/>
          <p:nvPr/>
        </p:nvSpPr>
        <p:spPr>
          <a:xfrm>
            <a:off x="4297680" y="2194560"/>
            <a:ext cx="3474720" cy="1371600"/>
          </a:xfrm>
          <a:prstGeom prst="rect">
            <a:avLst/>
          </a:prstGeom>
          <a:noFill/>
          <a:ln/>
        </p:spPr>
        <p:txBody>
          <a:bodyPr wrap="square" lIns="0" tIns="0" rIns="0" bIns="0" rtlCol="0" anchor="b"/>
          <a:lstStyle/>
          <a:p>
            <a:pPr marL="0" indent="0">
              <a:buNone/>
            </a:pPr>
            <a:r>
              <a:rPr lang="en-US" sz="4800" b="1" dirty="0">
                <a:solidFill>
                  <a:schemeClr val="accent1"/>
                </a:solidFill>
                <a:latin typeface="Poppins" pitchFamily="34" charset="0"/>
                <a:ea typeface="Poppins" pitchFamily="34" charset="-122"/>
                <a:cs typeface="Poppins" pitchFamily="34" charset="-120"/>
              </a:rPr>
              <a:t>€172.100</a:t>
            </a:r>
            <a:endParaRPr lang="en-US" sz="4800" dirty="0"/>
          </a:p>
        </p:txBody>
      </p:sp>
      <p:sp>
        <p:nvSpPr>
          <p:cNvPr id="6" name="Label €172.100"/>
          <p:cNvSpPr txBox="1"/>
          <p:nvPr/>
        </p:nvSpPr>
        <p:spPr>
          <a:xfrm>
            <a:off x="4297680" y="3611880"/>
            <a:ext cx="3474720" cy="640080"/>
          </a:xfrm>
          <a:prstGeom prst="rect">
            <a:avLst/>
          </a:prstGeom>
          <a:noFill/>
          <a:ln/>
        </p:spPr>
        <p:txBody>
          <a:bodyPr wrap="square" lIns="0" tIns="0" rIns="0" bIns="0" rtlCol="0" anchor="t"/>
          <a:lstStyle/>
          <a:p>
            <a:pPr marL="0" indent="0">
              <a:buNone/>
            </a:pPr>
            <a:r>
              <a:rPr lang="en-US" sz="1400" b="1" kern="0" spc="300" dirty="0">
                <a:solidFill>
                  <a:schemeClr val="bg1"/>
                </a:solidFill>
                <a:latin typeface="Poppins" pitchFamily="34" charset="0"/>
                <a:ea typeface="Poppins" pitchFamily="34" charset="-122"/>
                <a:cs typeface="Poppins" pitchFamily="34" charset="-120"/>
              </a:rPr>
              <a:t>2029</a:t>
            </a:r>
            <a:endParaRPr lang="en-US" sz="1400" dirty="0"/>
          </a:p>
        </p:txBody>
      </p:sp>
      <p:sp>
        <p:nvSpPr>
          <p:cNvPr id="7" name="Stat €374.300"/>
          <p:cNvSpPr txBox="1"/>
          <p:nvPr/>
        </p:nvSpPr>
        <p:spPr>
          <a:xfrm>
            <a:off x="8046720" y="2194560"/>
            <a:ext cx="3474720" cy="1371600"/>
          </a:xfrm>
          <a:prstGeom prst="rect">
            <a:avLst/>
          </a:prstGeom>
          <a:noFill/>
          <a:ln/>
        </p:spPr>
        <p:txBody>
          <a:bodyPr wrap="square" lIns="0" tIns="0" rIns="0" bIns="0" rtlCol="0" anchor="b"/>
          <a:lstStyle/>
          <a:p>
            <a:pPr marL="0" indent="0">
              <a:buNone/>
            </a:pPr>
            <a:r>
              <a:rPr lang="en-US" sz="4800" b="1" dirty="0">
                <a:solidFill>
                  <a:schemeClr val="accent1"/>
                </a:solidFill>
                <a:latin typeface="Poppins" pitchFamily="34" charset="0"/>
                <a:ea typeface="Poppins" pitchFamily="34" charset="-122"/>
                <a:cs typeface="Poppins" pitchFamily="34" charset="-120"/>
              </a:rPr>
              <a:t>€374.300</a:t>
            </a:r>
            <a:endParaRPr lang="en-US" sz="4800" dirty="0"/>
          </a:p>
        </p:txBody>
      </p:sp>
      <p:sp>
        <p:nvSpPr>
          <p:cNvPr id="8" name="Label €374.300"/>
          <p:cNvSpPr txBox="1"/>
          <p:nvPr/>
        </p:nvSpPr>
        <p:spPr>
          <a:xfrm>
            <a:off x="8046720" y="3611880"/>
            <a:ext cx="3474720" cy="640080"/>
          </a:xfrm>
          <a:prstGeom prst="rect">
            <a:avLst/>
          </a:prstGeom>
          <a:noFill/>
          <a:ln/>
        </p:spPr>
        <p:txBody>
          <a:bodyPr wrap="square" lIns="0" tIns="0" rIns="0" bIns="0" rtlCol="0" anchor="t"/>
          <a:lstStyle/>
          <a:p>
            <a:pPr marL="0" indent="0">
              <a:buNone/>
            </a:pPr>
            <a:r>
              <a:rPr lang="en-US" sz="1400" b="1" kern="0" spc="300" dirty="0">
                <a:solidFill>
                  <a:schemeClr val="bg1"/>
                </a:solidFill>
                <a:latin typeface="Poppins" pitchFamily="34" charset="0"/>
                <a:ea typeface="Poppins" pitchFamily="34" charset="-122"/>
                <a:cs typeface="Poppins" pitchFamily="34" charset="-120"/>
              </a:rPr>
              <a:t>2031</a:t>
            </a:r>
            <a:endParaRPr lang="en-US" sz="1400" dirty="0"/>
          </a:p>
        </p:txBody>
      </p:sp>
      <p:sp>
        <p:nvSpPr>
          <p:cNvPr id="9" name="Text 7"/>
          <p:cNvSpPr txBox="1"/>
          <p:nvPr/>
        </p:nvSpPr>
        <p:spPr>
          <a:xfrm>
            <a:off x="548640" y="5852160"/>
            <a:ext cx="11064240" cy="365760"/>
          </a:xfrm>
          <a:prstGeom prst="rect">
            <a:avLst/>
          </a:prstGeom>
          <a:noFill/>
          <a:ln/>
        </p:spPr>
        <p:txBody>
          <a:bodyPr wrap="square" lIns="0" tIns="0" rIns="0" bIns="0" rtlCol="0" anchor="t"/>
          <a:lstStyle/>
          <a:p>
            <a:pPr marL="0" indent="0">
              <a:buNone/>
            </a:pPr>
            <a:r>
              <a:rPr lang="en-US" sz="1200" b="1" kern="0" spc="300" dirty="0">
                <a:solidFill>
                  <a:schemeClr val="accent5"/>
                </a:solidFill>
                <a:latin typeface="Poppins" pitchFamily="34" charset="0"/>
                <a:ea typeface="Poppins" pitchFamily="34" charset="-122"/>
                <a:cs typeface="Poppins" pitchFamily="34" charset="-120"/>
              </a:rPr>
              <a:t>VERMOGENSBEHOEFTE PER 31 DECEMBER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Foto slide-14-vraag-founders-product.jpg" descr="Founder in HÏ Grip-shirt houdt een pack sokken vast"/>
          <p:cNvPicPr>
            <a:picLocks noChangeAspect="1"/>
          </p:cNvPicPr>
          <p:nvPr/>
        </p:nvPicPr>
        <p:blipFill>
          <a:blip r:embed="rId3"/>
          <a:stretch>
            <a:fillRect/>
          </a:stretch>
        </p:blipFill>
        <p:spPr>
          <a:xfrm>
            <a:off x="0" y="0"/>
            <a:ext cx="12188952" cy="6858000"/>
          </a:xfrm>
          <a:prstGeom prst="rect">
            <a:avLst/>
          </a:prstGeom>
        </p:spPr>
      </p:pic>
      <p:sp>
        <p:nvSpPr>
          <p:cNvPr id="3" name="Dimlaag"/>
          <p:cNvSpPr/>
          <p:nvPr/>
        </p:nvSpPr>
        <p:spPr>
          <a:xfrm>
            <a:off x="0" y="0"/>
            <a:ext cx="12188952" cy="6858000"/>
          </a:xfrm>
          <a:prstGeom prst="rect">
            <a:avLst/>
          </a:prstGeom>
          <a:solidFill>
            <a:schemeClr val="tx1">
              <a:alpha val="65000"/>
            </a:schemeClr>
          </a:solidFill>
          <a:ln w="12700">
            <a:solidFill>
              <a:schemeClr val="tx1">
                <a:alpha val="0"/>
              </a:schemeClr>
            </a:solidFill>
            <a:prstDash val="solid"/>
          </a:ln>
        </p:spPr>
        <p:txBody>
          <a:bodyPr/>
          <a:lstStyle/>
          <a:p>
            <a:endParaRPr lang="nl-NL"/>
          </a:p>
        </p:txBody>
      </p:sp>
      <p:sp>
        <p:nvSpPr>
          <p:cNvPr id="4" name="Label foto-type"/>
          <p:cNvSpPr/>
          <p:nvPr/>
        </p:nvSpPr>
        <p:spPr>
          <a:xfrm>
            <a:off x="228600" y="228600"/>
            <a:ext cx="1600200" cy="329184"/>
          </a:xfrm>
          <a:prstGeom prst="roundRect">
            <a:avLst>
              <a:gd name="adj" fmla="val 50000"/>
            </a:avLst>
          </a:prstGeom>
          <a:solidFill>
            <a:schemeClr val="accent1"/>
          </a:solidFill>
          <a:ln w="6350">
            <a:solidFill>
              <a:schemeClr val="accent1"/>
            </a:solidFill>
            <a:prstDash val="solid"/>
          </a:ln>
        </p:spPr>
        <p:txBody>
          <a:bodyPr/>
          <a:lstStyle/>
          <a:p>
            <a:endParaRPr lang="nl-NL"/>
          </a:p>
        </p:txBody>
      </p:sp>
      <p:sp>
        <p:nvSpPr>
          <p:cNvPr id="5" name="Label tekst"/>
          <p:cNvSpPr txBox="1"/>
          <p:nvPr/>
        </p:nvSpPr>
        <p:spPr>
          <a:xfrm>
            <a:off x="228600" y="228600"/>
            <a:ext cx="1600200" cy="329184"/>
          </a:xfrm>
          <a:prstGeom prst="rect">
            <a:avLst/>
          </a:prstGeom>
          <a:noFill/>
          <a:ln/>
        </p:spPr>
        <p:txBody>
          <a:bodyPr wrap="square" lIns="0" tIns="0" rIns="0" bIns="0" rtlCol="0" anchor="ctr"/>
          <a:lstStyle/>
          <a:p>
            <a:pPr marL="0" indent="0" algn="ctr">
              <a:buNone/>
            </a:pPr>
            <a:r>
              <a:rPr lang="en-US" sz="1100" b="1" kern="0" spc="200" dirty="0">
                <a:solidFill>
                  <a:schemeClr val="tx1"/>
                </a:solidFill>
                <a:latin typeface="Poppins" pitchFamily="34" charset="0"/>
                <a:ea typeface="Poppins" pitchFamily="34" charset="-122"/>
                <a:cs typeface="Poppins" pitchFamily="34" charset="-120"/>
              </a:rPr>
              <a:t>EIGEN FOTO</a:t>
            </a:r>
            <a:endParaRPr lang="en-US" sz="1100" dirty="0"/>
          </a:p>
        </p:txBody>
      </p:sp>
      <p:sp>
        <p:nvSpPr>
          <p:cNvPr id="6" name="Text 0"/>
          <p:cNvSpPr>
            <a:spLocks noGrp="1"/>
          </p:cNvSpPr>
          <p:nvPr>
            <p:ph type="title" idx="100" hasCustomPrompt="1"/>
          </p:nvPr>
        </p:nvSpPr>
        <p:spPr>
          <a:xfrm>
            <a:off x="548640" y="2651760"/>
            <a:ext cx="11064240" cy="2194560"/>
          </a:xfrm>
          <a:prstGeom prst="rect">
            <a:avLst/>
          </a:prstGeom>
          <a:noFill/>
          <a:ln/>
        </p:spPr>
        <p:txBody>
          <a:bodyPr wrap="square" lIns="0" tIns="0" rIns="0" bIns="0" rtlCol="0" anchor="b"/>
          <a:lstStyle/>
          <a:p>
            <a:pPr marL="0" indent="0" algn="l">
              <a:buNone/>
            </a:pPr>
            <a:r>
              <a:rPr lang="en-US" sz="6000" b="1" i="1" dirty="0">
                <a:solidFill>
                  <a:schemeClr val="bg1"/>
                </a:solidFill>
                <a:latin typeface="Poppins" pitchFamily="34" charset="0"/>
                <a:ea typeface="Poppins" pitchFamily="34" charset="-122"/>
                <a:cs typeface="Poppins" pitchFamily="34" charset="-120"/>
              </a:rPr>
              <a:t>WIJ VRAGEN €50.000</a:t>
            </a:r>
            <a:endParaRPr lang="en-US" sz="6000" dirty="0"/>
          </a:p>
        </p:txBody>
      </p:sp>
      <p:sp>
        <p:nvSpPr>
          <p:cNvPr id="7" name="Bestedingsblok"/>
          <p:cNvSpPr/>
          <p:nvPr/>
        </p:nvSpPr>
        <p:spPr>
          <a:xfrm>
            <a:off x="548640" y="5120640"/>
            <a:ext cx="5440680" cy="1417320"/>
          </a:xfrm>
          <a:prstGeom prst="rect">
            <a:avLst/>
          </a:prstGeom>
          <a:solidFill>
            <a:schemeClr val="tx1">
              <a:alpha val="75000"/>
            </a:schemeClr>
          </a:solidFill>
          <a:ln w="6350">
            <a:solidFill>
              <a:schemeClr val="tx1"/>
            </a:solidFill>
            <a:prstDash val="solid"/>
          </a:ln>
        </p:spPr>
        <p:txBody>
          <a:bodyPr/>
          <a:lstStyle/>
          <a:p>
            <a:endParaRPr lang="nl-NL"/>
          </a:p>
        </p:txBody>
      </p:sp>
      <p:sp>
        <p:nvSpPr>
          <p:cNvPr id="8" name="Bedrag €20.000"/>
          <p:cNvSpPr txBox="1"/>
          <p:nvPr/>
        </p:nvSpPr>
        <p:spPr>
          <a:xfrm>
            <a:off x="822960" y="5212080"/>
            <a:ext cx="2377440" cy="914400"/>
          </a:xfrm>
          <a:prstGeom prst="rect">
            <a:avLst/>
          </a:prstGeom>
          <a:noFill/>
          <a:ln/>
        </p:spPr>
        <p:txBody>
          <a:bodyPr wrap="square" lIns="0" tIns="0" rIns="0" bIns="0" rtlCol="0" anchor="ctr"/>
          <a:lstStyle/>
          <a:p>
            <a:pPr marL="0" indent="0">
              <a:buNone/>
            </a:pPr>
            <a:r>
              <a:rPr lang="en-US" sz="4000" b="1" dirty="0">
                <a:solidFill>
                  <a:schemeClr val="accent1"/>
                </a:solidFill>
                <a:latin typeface="Poppins" pitchFamily="34" charset="0"/>
                <a:ea typeface="Poppins" pitchFamily="34" charset="-122"/>
                <a:cs typeface="Poppins" pitchFamily="34" charset="-120"/>
              </a:rPr>
              <a:t>€20.000</a:t>
            </a:r>
            <a:endParaRPr lang="en-US" sz="4000" dirty="0"/>
          </a:p>
        </p:txBody>
      </p:sp>
      <p:sp>
        <p:nvSpPr>
          <p:cNvPr id="9" name="Text 6"/>
          <p:cNvSpPr txBox="1"/>
          <p:nvPr/>
        </p:nvSpPr>
        <p:spPr>
          <a:xfrm>
            <a:off x="3291840" y="5349240"/>
            <a:ext cx="2560320" cy="457200"/>
          </a:xfrm>
          <a:prstGeom prst="rect">
            <a:avLst/>
          </a:prstGeom>
          <a:noFill/>
          <a:ln/>
        </p:spPr>
        <p:txBody>
          <a:bodyPr wrap="square" lIns="0" tIns="0" rIns="0" bIns="0" rtlCol="0" anchor="t"/>
          <a:lstStyle/>
          <a:p>
            <a:pPr marL="0" indent="0">
              <a:buNone/>
            </a:pPr>
            <a:r>
              <a:rPr lang="en-US" sz="1200" b="1" kern="0" spc="300" dirty="0">
                <a:solidFill>
                  <a:schemeClr val="bg1"/>
                </a:solidFill>
                <a:latin typeface="Poppins" pitchFamily="34" charset="0"/>
                <a:ea typeface="Poppins" pitchFamily="34" charset="-122"/>
                <a:cs typeface="Poppins" pitchFamily="34" charset="-120"/>
              </a:rPr>
              <a:t>SKISOKKEN-INKOOP</a:t>
            </a:r>
            <a:endParaRPr lang="en-US" sz="1200" dirty="0"/>
          </a:p>
        </p:txBody>
      </p:sp>
      <p:sp>
        <p:nvSpPr>
          <p:cNvPr id="10" name="Text 7"/>
          <p:cNvSpPr txBox="1"/>
          <p:nvPr/>
        </p:nvSpPr>
        <p:spPr>
          <a:xfrm>
            <a:off x="3291840" y="5852160"/>
            <a:ext cx="2560320" cy="457200"/>
          </a:xfrm>
          <a:prstGeom prst="rect">
            <a:avLst/>
          </a:prstGeom>
          <a:noFill/>
          <a:ln/>
        </p:spPr>
        <p:txBody>
          <a:bodyPr wrap="square" lIns="0" tIns="0" rIns="0" bIns="0" rtlCol="0" anchor="t"/>
          <a:lstStyle/>
          <a:p>
            <a:pPr marL="0" indent="0">
              <a:buNone/>
            </a:pPr>
            <a:r>
              <a:rPr lang="en-US" sz="1000" b="1" kern="0" spc="300" dirty="0">
                <a:solidFill>
                  <a:schemeClr val="accent5"/>
                </a:solidFill>
                <a:latin typeface="Poppins" pitchFamily="34" charset="0"/>
                <a:ea typeface="Poppins" pitchFamily="34" charset="-122"/>
                <a:cs typeface="Poppins" pitchFamily="34" charset="-120"/>
              </a:rPr>
              <a:t>FOB + LOGISTIEK</a:t>
            </a:r>
            <a:endParaRPr lang="en-US" sz="1000" dirty="0"/>
          </a:p>
        </p:txBody>
      </p:sp>
      <p:sp>
        <p:nvSpPr>
          <p:cNvPr id="11" name="Bestedingsblok"/>
          <p:cNvSpPr/>
          <p:nvPr/>
        </p:nvSpPr>
        <p:spPr>
          <a:xfrm>
            <a:off x="6172200" y="5120640"/>
            <a:ext cx="5440680" cy="1417320"/>
          </a:xfrm>
          <a:prstGeom prst="rect">
            <a:avLst/>
          </a:prstGeom>
          <a:solidFill>
            <a:schemeClr val="tx1">
              <a:alpha val="75000"/>
            </a:schemeClr>
          </a:solidFill>
          <a:ln w="6350">
            <a:solidFill>
              <a:schemeClr val="tx1"/>
            </a:solidFill>
            <a:prstDash val="solid"/>
          </a:ln>
        </p:spPr>
        <p:txBody>
          <a:bodyPr/>
          <a:lstStyle/>
          <a:p>
            <a:endParaRPr lang="nl-NL"/>
          </a:p>
        </p:txBody>
      </p:sp>
      <p:sp>
        <p:nvSpPr>
          <p:cNvPr id="12" name="Bedrag €30.000"/>
          <p:cNvSpPr txBox="1"/>
          <p:nvPr/>
        </p:nvSpPr>
        <p:spPr>
          <a:xfrm>
            <a:off x="6446520" y="5212080"/>
            <a:ext cx="2377440" cy="914400"/>
          </a:xfrm>
          <a:prstGeom prst="rect">
            <a:avLst/>
          </a:prstGeom>
          <a:noFill/>
          <a:ln/>
        </p:spPr>
        <p:txBody>
          <a:bodyPr wrap="square" lIns="0" tIns="0" rIns="0" bIns="0" rtlCol="0" anchor="ctr"/>
          <a:lstStyle/>
          <a:p>
            <a:pPr marL="0" indent="0">
              <a:buNone/>
            </a:pPr>
            <a:r>
              <a:rPr lang="en-US" sz="4000" b="1" dirty="0">
                <a:solidFill>
                  <a:schemeClr val="accent1"/>
                </a:solidFill>
                <a:latin typeface="Poppins" pitchFamily="34" charset="0"/>
                <a:ea typeface="Poppins" pitchFamily="34" charset="-122"/>
                <a:cs typeface="Poppins" pitchFamily="34" charset="-120"/>
              </a:rPr>
              <a:t>€30.000</a:t>
            </a:r>
            <a:endParaRPr lang="en-US" sz="4000" dirty="0"/>
          </a:p>
        </p:txBody>
      </p:sp>
      <p:sp>
        <p:nvSpPr>
          <p:cNvPr id="13" name="Text 10"/>
          <p:cNvSpPr txBox="1"/>
          <p:nvPr/>
        </p:nvSpPr>
        <p:spPr>
          <a:xfrm>
            <a:off x="8915400" y="5349240"/>
            <a:ext cx="2560320" cy="457200"/>
          </a:xfrm>
          <a:prstGeom prst="rect">
            <a:avLst/>
          </a:prstGeom>
          <a:noFill/>
          <a:ln/>
        </p:spPr>
        <p:txBody>
          <a:bodyPr wrap="square" lIns="0" tIns="0" rIns="0" bIns="0" rtlCol="0" anchor="t"/>
          <a:lstStyle/>
          <a:p>
            <a:pPr marL="0" indent="0">
              <a:buNone/>
            </a:pPr>
            <a:r>
              <a:rPr lang="en-US" sz="1200" b="1" kern="0" spc="300" dirty="0">
                <a:solidFill>
                  <a:schemeClr val="bg1"/>
                </a:solidFill>
                <a:latin typeface="Poppins" pitchFamily="34" charset="0"/>
                <a:ea typeface="Poppins" pitchFamily="34" charset="-122"/>
                <a:cs typeface="Poppins" pitchFamily="34" charset="-120"/>
              </a:rPr>
              <a:t>MARKETING EN CONTENT</a:t>
            </a:r>
            <a:endParaRPr lang="en-US" sz="1200" dirty="0"/>
          </a:p>
        </p:txBody>
      </p:sp>
      <p:sp>
        <p:nvSpPr>
          <p:cNvPr id="14" name="Text 11"/>
          <p:cNvSpPr txBox="1"/>
          <p:nvPr/>
        </p:nvSpPr>
        <p:spPr>
          <a:xfrm>
            <a:off x="8915400" y="5852160"/>
            <a:ext cx="2560320" cy="457200"/>
          </a:xfrm>
          <a:prstGeom prst="rect">
            <a:avLst/>
          </a:prstGeom>
          <a:noFill/>
          <a:ln/>
        </p:spPr>
        <p:txBody>
          <a:bodyPr wrap="square" lIns="0" tIns="0" rIns="0" bIns="0" rtlCol="0" anchor="t"/>
          <a:lstStyle/>
          <a:p>
            <a:pPr marL="0" indent="0">
              <a:buNone/>
            </a:pPr>
            <a:r>
              <a:rPr lang="en-US" sz="1000" b="1" kern="0" spc="300" dirty="0">
                <a:solidFill>
                  <a:schemeClr val="accent5"/>
                </a:solidFill>
                <a:latin typeface="Poppins" pitchFamily="34" charset="0"/>
                <a:ea typeface="Poppins" pitchFamily="34" charset="-122"/>
                <a:cs typeface="Poppins" pitchFamily="34" charset="-120"/>
              </a:rPr>
              <a:t>INFLUENCERS · ADS · SHOOTS · EVENTS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Foto slide-15-slot-tennis-actie.jpg" descr="Tennisser in actie op gravel (TVB Open)"/>
          <p:cNvPicPr>
            <a:picLocks noChangeAspect="1"/>
          </p:cNvPicPr>
          <p:nvPr/>
        </p:nvPicPr>
        <p:blipFill>
          <a:blip r:embed="rId3"/>
          <a:stretch>
            <a:fillRect/>
          </a:stretch>
        </p:blipFill>
        <p:spPr>
          <a:xfrm>
            <a:off x="0" y="0"/>
            <a:ext cx="12188952" cy="6858000"/>
          </a:xfrm>
          <a:prstGeom prst="rect">
            <a:avLst/>
          </a:prstGeom>
        </p:spPr>
      </p:pic>
      <p:sp>
        <p:nvSpPr>
          <p:cNvPr id="3" name="Dimlaag"/>
          <p:cNvSpPr/>
          <p:nvPr/>
        </p:nvSpPr>
        <p:spPr>
          <a:xfrm>
            <a:off x="0" y="0"/>
            <a:ext cx="12188952" cy="6858000"/>
          </a:xfrm>
          <a:prstGeom prst="rect">
            <a:avLst/>
          </a:prstGeom>
          <a:solidFill>
            <a:schemeClr val="tx1">
              <a:alpha val="55000"/>
            </a:schemeClr>
          </a:solidFill>
          <a:ln w="12700">
            <a:solidFill>
              <a:schemeClr val="tx1">
                <a:alpha val="0"/>
              </a:schemeClr>
            </a:solidFill>
            <a:prstDash val="solid"/>
          </a:ln>
        </p:spPr>
        <p:txBody>
          <a:bodyPr/>
          <a:lstStyle/>
          <a:p>
            <a:endParaRPr lang="nl-NL"/>
          </a:p>
        </p:txBody>
      </p:sp>
      <p:sp>
        <p:nvSpPr>
          <p:cNvPr id="4" name="Label foto-type"/>
          <p:cNvSpPr/>
          <p:nvPr/>
        </p:nvSpPr>
        <p:spPr>
          <a:xfrm>
            <a:off x="228600" y="228600"/>
            <a:ext cx="1600200" cy="329184"/>
          </a:xfrm>
          <a:prstGeom prst="roundRect">
            <a:avLst>
              <a:gd name="adj" fmla="val 50000"/>
            </a:avLst>
          </a:prstGeom>
          <a:solidFill>
            <a:schemeClr val="accent1"/>
          </a:solidFill>
          <a:ln w="6350">
            <a:solidFill>
              <a:schemeClr val="accent1"/>
            </a:solidFill>
            <a:prstDash val="solid"/>
          </a:ln>
        </p:spPr>
        <p:txBody>
          <a:bodyPr/>
          <a:lstStyle/>
          <a:p>
            <a:endParaRPr lang="nl-NL"/>
          </a:p>
        </p:txBody>
      </p:sp>
      <p:sp>
        <p:nvSpPr>
          <p:cNvPr id="5" name="Label tekst"/>
          <p:cNvSpPr txBox="1"/>
          <p:nvPr/>
        </p:nvSpPr>
        <p:spPr>
          <a:xfrm>
            <a:off x="228600" y="228600"/>
            <a:ext cx="1600200" cy="329184"/>
          </a:xfrm>
          <a:prstGeom prst="rect">
            <a:avLst/>
          </a:prstGeom>
          <a:noFill/>
          <a:ln/>
        </p:spPr>
        <p:txBody>
          <a:bodyPr wrap="square" lIns="0" tIns="0" rIns="0" bIns="0" rtlCol="0" anchor="ctr"/>
          <a:lstStyle/>
          <a:p>
            <a:pPr marL="0" indent="0" algn="ctr">
              <a:buNone/>
            </a:pPr>
            <a:r>
              <a:rPr lang="en-US" sz="1100" b="1" kern="0" spc="200" dirty="0">
                <a:solidFill>
                  <a:schemeClr val="tx1"/>
                </a:solidFill>
                <a:latin typeface="Poppins" pitchFamily="34" charset="0"/>
                <a:ea typeface="Poppins" pitchFamily="34" charset="-122"/>
                <a:cs typeface="Poppins" pitchFamily="34" charset="-120"/>
              </a:rPr>
              <a:t>EIGEN FOTO</a:t>
            </a:r>
            <a:endParaRPr lang="en-US" sz="1100" dirty="0"/>
          </a:p>
        </p:txBody>
      </p:sp>
      <p:sp>
        <p:nvSpPr>
          <p:cNvPr id="6" name="Text 0"/>
          <p:cNvSpPr>
            <a:spLocks noGrp="1"/>
          </p:cNvSpPr>
          <p:nvPr>
            <p:ph type="title" idx="100" hasCustomPrompt="1"/>
          </p:nvPr>
        </p:nvSpPr>
        <p:spPr>
          <a:xfrm>
            <a:off x="548640" y="2651760"/>
            <a:ext cx="11064240" cy="2194560"/>
          </a:xfrm>
          <a:prstGeom prst="rect">
            <a:avLst/>
          </a:prstGeom>
          <a:noFill/>
          <a:ln/>
        </p:spPr>
        <p:txBody>
          <a:bodyPr wrap="square" lIns="0" tIns="0" rIns="0" bIns="0" rtlCol="0" anchor="b"/>
          <a:lstStyle/>
          <a:p>
            <a:pPr marL="0" indent="0" algn="l">
              <a:buNone/>
            </a:pPr>
            <a:r>
              <a:rPr lang="en-US" sz="6000" b="1" i="1" dirty="0">
                <a:solidFill>
                  <a:schemeClr val="bg1"/>
                </a:solidFill>
                <a:latin typeface="Poppins" pitchFamily="34" charset="0"/>
                <a:ea typeface="Poppins" pitchFamily="34" charset="-122"/>
                <a:cs typeface="Poppins" pitchFamily="34" charset="-120"/>
              </a:rPr>
              <a:t>GA DOOR WAAR ANDEREN STOPPEN</a:t>
            </a:r>
            <a:endParaRPr lang="en-US" sz="6000" dirty="0"/>
          </a:p>
        </p:txBody>
      </p:sp>
      <p:sp>
        <p:nvSpPr>
          <p:cNvPr id="7" name="Text 4"/>
          <p:cNvSpPr txBox="1"/>
          <p:nvPr/>
        </p:nvSpPr>
        <p:spPr>
          <a:xfrm>
            <a:off x="548640" y="5669280"/>
            <a:ext cx="3566160" cy="457200"/>
          </a:xfrm>
          <a:prstGeom prst="rect">
            <a:avLst/>
          </a:prstGeom>
          <a:noFill/>
          <a:ln/>
        </p:spPr>
        <p:txBody>
          <a:bodyPr wrap="square" lIns="0" tIns="0" rIns="0" bIns="0" rtlCol="0" anchor="t"/>
          <a:lstStyle/>
          <a:p>
            <a:pPr marL="0" indent="0">
              <a:buNone/>
            </a:pPr>
            <a:r>
              <a:rPr lang="en-US" sz="1400" b="1" kern="0" spc="300" dirty="0">
                <a:solidFill>
                  <a:schemeClr val="accent1"/>
                </a:solidFill>
                <a:latin typeface="Poppins" pitchFamily="34" charset="0"/>
                <a:ea typeface="Poppins" pitchFamily="34" charset="-122"/>
                <a:cs typeface="Poppins" pitchFamily="34" charset="-120"/>
              </a:rPr>
              <a:t>INFO@HIGRIP.NL</a:t>
            </a:r>
            <a:endParaRPr lang="en-US" sz="1400" dirty="0"/>
          </a:p>
        </p:txBody>
      </p:sp>
      <p:sp>
        <p:nvSpPr>
          <p:cNvPr id="8" name="Text 5"/>
          <p:cNvSpPr txBox="1"/>
          <p:nvPr/>
        </p:nvSpPr>
        <p:spPr>
          <a:xfrm>
            <a:off x="4297680" y="5669280"/>
            <a:ext cx="3566160" cy="457200"/>
          </a:xfrm>
          <a:prstGeom prst="rect">
            <a:avLst/>
          </a:prstGeom>
          <a:noFill/>
          <a:ln/>
        </p:spPr>
        <p:txBody>
          <a:bodyPr wrap="square" lIns="0" tIns="0" rIns="0" bIns="0" rtlCol="0" anchor="t"/>
          <a:lstStyle/>
          <a:p>
            <a:pPr marL="0" indent="0">
              <a:buNone/>
            </a:pPr>
            <a:r>
              <a:rPr lang="en-US" sz="1400" b="1" kern="0" spc="300" dirty="0">
                <a:solidFill>
                  <a:schemeClr val="bg1"/>
                </a:solidFill>
                <a:latin typeface="Poppins" pitchFamily="34" charset="0"/>
                <a:ea typeface="Poppins" pitchFamily="34" charset="-122"/>
                <a:cs typeface="Poppins" pitchFamily="34" charset="-120"/>
              </a:rPr>
              <a:t>HIGRIP.NL</a:t>
            </a:r>
            <a:endParaRPr lang="en-US" sz="1400" dirty="0"/>
          </a:p>
        </p:txBody>
      </p:sp>
      <p:sp>
        <p:nvSpPr>
          <p:cNvPr id="9" name="Text 6"/>
          <p:cNvSpPr txBox="1"/>
          <p:nvPr/>
        </p:nvSpPr>
        <p:spPr>
          <a:xfrm>
            <a:off x="8229600" y="5669280"/>
            <a:ext cx="3383280" cy="457200"/>
          </a:xfrm>
          <a:prstGeom prst="rect">
            <a:avLst/>
          </a:prstGeom>
          <a:noFill/>
          <a:ln/>
        </p:spPr>
        <p:txBody>
          <a:bodyPr wrap="square" lIns="0" tIns="0" rIns="0" bIns="0" rtlCol="0" anchor="t"/>
          <a:lstStyle/>
          <a:p>
            <a:pPr marL="0" indent="0">
              <a:buNone/>
            </a:pPr>
            <a:r>
              <a:rPr lang="en-US" sz="1400" b="1" kern="0" spc="300" dirty="0">
                <a:solidFill>
                  <a:schemeClr val="bg1"/>
                </a:solidFill>
                <a:latin typeface="Poppins" pitchFamily="34" charset="0"/>
                <a:ea typeface="Poppins" pitchFamily="34" charset="-122"/>
                <a:cs typeface="Poppins" pitchFamily="34" charset="-120"/>
              </a:rPr>
              <a:t>LARS · TIGO · TIMO</a:t>
            </a:r>
            <a:endParaRPr lang="en-US" sz="1400" dirty="0"/>
          </a:p>
        </p:txBody>
      </p:sp>
    </p:spTree>
  </p:cSld>
  <p:clrMapOvr>
    <a:masterClrMapping/>
  </p:clrMapOvr>
</p:sld>
</file>

<file path=ppt/theme/theme1.xml><?xml version="1.0" encoding="utf-8"?>
<a:theme xmlns:a="http://schemas.openxmlformats.org/drawingml/2006/main" name="HI Grip">
  <a:themeElements>
    <a:clrScheme name="HI Grip">
      <a:dk1>
        <a:srgbClr val="000000"/>
      </a:dk1>
      <a:lt1>
        <a:srgbClr val="FFFFFF"/>
      </a:lt1>
      <a:dk2>
        <a:srgbClr val="111111"/>
      </a:dk2>
      <a:lt2>
        <a:srgbClr val="EAE8E5"/>
      </a:lt2>
      <a:accent1>
        <a:srgbClr val="CCFF00"/>
      </a:accent1>
      <a:accent2>
        <a:srgbClr val="FF6A00"/>
      </a:accent2>
      <a:accent3>
        <a:srgbClr val="0011A7"/>
      </a:accent3>
      <a:accent4>
        <a:srgbClr val="E10600"/>
      </a:accent4>
      <a:accent5>
        <a:srgbClr val="909194"/>
      </a:accent5>
      <a:accent6>
        <a:srgbClr val="5C5D5F"/>
      </a:accent6>
      <a:hlink>
        <a:srgbClr val="0011A7"/>
      </a:hlink>
      <a:folHlink>
        <a:srgbClr val="5C5D5F"/>
      </a:folHlink>
    </a:clrScheme>
    <a:fontScheme name="HI Grip">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1832</Words>
  <Application>Microsoft Office PowerPoint</Application>
  <PresentationFormat>Breedbeeld</PresentationFormat>
  <Paragraphs>142</Paragraphs>
  <Slides>14</Slides>
  <Notes>14</Notes>
  <HiddenSlides>0</HiddenSlides>
  <MMClips>0</MMClips>
  <ScaleCrop>false</ScaleCrop>
  <HeadingPairs>
    <vt:vector size="6" baseType="variant">
      <vt:variant>
        <vt:lpstr>Gebruikte lettertypen</vt:lpstr>
      </vt:variant>
      <vt:variant>
        <vt:i4>2</vt:i4>
      </vt:variant>
      <vt:variant>
        <vt:lpstr>Thema</vt:lpstr>
      </vt:variant>
      <vt:variant>
        <vt:i4>1</vt:i4>
      </vt:variant>
      <vt:variant>
        <vt:lpstr>Diatitels</vt:lpstr>
      </vt:variant>
      <vt:variant>
        <vt:i4>14</vt:i4>
      </vt:variant>
    </vt:vector>
  </HeadingPairs>
  <TitlesOfParts>
    <vt:vector size="17" baseType="lpstr">
      <vt:lpstr>Arial</vt:lpstr>
      <vt:lpstr>Poppins</vt:lpstr>
      <vt:lpstr>HI Grip</vt:lpstr>
      <vt:lpstr>GA DOOR WAAR ANDEREN STOPPEN</vt:lpstr>
      <vt:lpstr>SPORTERS GLIJDEN WEG</vt:lpstr>
      <vt:lpstr>WIJ GEVEN JE GRIP</vt:lpstr>
      <vt:lpstr>BEWEZEN: 95% MEER GRIP</vt:lpstr>
      <vt:lpstr>DE TRACTIE IS ER AL</vt:lpstr>
      <vt:lpstr>ZE DRAGEN ONS AL</vt:lpstr>
      <vt:lpstr>GEZONDE MARGES</vt:lpstr>
      <vt:lpstr>DE TOEKOMST VAN HÏ GRIP</vt:lpstr>
      <vt:lpstr>ONS PAD NAAR 2031</vt:lpstr>
      <vt:lpstr>WIJ ZIJN HÏ GRIP</vt:lpstr>
      <vt:lpstr>WE STAAN NIET ALLEEN</vt:lpstr>
      <vt:lpstr>WAT GROEI VRAAGT</vt:lpstr>
      <vt:lpstr>WIJ VRAGEN €50.000</vt:lpstr>
      <vt:lpstr>GA DOOR WAAR ANDEREN STOPPEN</vt:lpstr>
    </vt:vector>
  </TitlesOfParts>
  <Company>HÏ Grip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HÏ Grip — Investeringspitch 2026</dc:title>
  <dc:subject>PptxGenJS Presentation</dc:subject>
  <dc:creator>HÏ Grip</dc:creator>
  <cp:lastModifiedBy>Timo Heijligers</cp:lastModifiedBy>
  <cp:revision>1</cp:revision>
  <dcterms:created xsi:type="dcterms:W3CDTF">2026-10-06T11:50:44Z</dcterms:created>
  <dcterms:modified xsi:type="dcterms:W3CDTF">2026-10-06T12:09:20Z</dcterms:modified>
</cp:coreProperties>
</file>