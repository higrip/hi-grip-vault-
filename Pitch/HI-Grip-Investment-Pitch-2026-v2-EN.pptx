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c232f81a-58e4-2031-6d49-66c1ae61f6c6}">
          <p14:sldIdLst>
            <p14:sldId id="256"/>
            <p14:sldId id="257"/>
          </p14:sldIdLst>
        </p14:section>
        <p14:section name="Problem and solution" id="{7a20d2fc-b489-37cf-ba83-6993963cfc44}">
          <p14:sldIdLst>
            <p14:sldId id="258"/>
            <p14:sldId id="259"/>
          </p14:sldIdLst>
        </p14:section>
        <p14:section name="Proof" id="{6fa788cb-42e1-f4d5-9042-599cb93ea6af}">
          <p14:sldIdLst>
            <p14:sldId id="260"/>
            <p14:sldId id="261"/>
            <p14:sldId id="262"/>
          </p14:sldIdLst>
        </p14:section>
        <p14:section name="Numbers" id="{45b94413-5c49-5d91-2bbe-ef3ec3cbfa06}">
          <p14:sldIdLst>
            <p14:sldId id="263"/>
          </p14:sldIdLst>
        </p14:section>
        <p14:section name="Future" id="{0e1f9c57-caa0-66da-be60-8dfd3579c9e4}">
          <p14:sldIdLst>
            <p14:sldId id="264"/>
            <p14:sldId id="265"/>
          </p14:sldIdLst>
        </p14:section>
        <p14:section name="Team" id="{08154d1e-d587-44a9-1ab7-916e6e97d6c3}">
          <p14:sldIdLst>
            <p14:sldId id="266"/>
            <p14:sldId id="267"/>
          </p14:sldIdLst>
        </p14:section>
        <p14:section name="Investment" id="{120165f6-80bb-8740-3da7-fb3455411b84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short and with energy. We are Lars, Tigo and Timo. Slogan: More grip, better performance. Goal of this pitch: €50,000 to keep growing.
PHOTO: OWN. Drive &gt; Content B2C &gt; Sporten &gt; TENNIS &gt; Zwart 2.0 (IMG_4143).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personal story: how it started and why we build this. Tell in your own words how you felt your feet slip in sports shoes and why that became a product. The three points are a proposal; adapt them to your real origin. The three founders build HÏ Grip alongside their studies.
PHOTO: OWN. Drive &gt; Over Ons: TIGO JONG and TIMO JONG (childhood photos). Lars is still missing: add a youth photo of Lars, or a photo of the three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in three numbers. 20–60% of athletes get blisters during training or matches. 5.3 million sports injuries in the Netherlands (2023). 13% of all football injuries are ankle injuries. Also: 5–30% of athletes get shin splints during intensive training. The chain we tell: bad gear, then pain and injury, then structural underperformance. Never 100%.
PHOTO: OWN. Drive &gt; Campagnes / Events &gt; FOTO'S TVB OPEN 2026 (KC8A0054-2). Shoot a stronger pain image yourselves (slipping foot, blister); stock search term: 'foot slipping inside sports shoe close up'.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three pillars. Innovation: standing still is falling behind. Comfort: the reason athletes can perform for a long time. Confidence: in wearing the right materials. Mission: gear should never be an obstacle to success. Vision: in 10 years the standard in performance sportswear.
PHOTO: OWN. Drive &gt; Productfoto's &gt; PERFORMANCE GRIP SOCKS 2.0 (Zwart voorkant). Also available: white, 3-pack and 5-pack.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Friction coefficient 0.60 for regular socks versus 1.17 for grip socks: 1.17 divided by 0.60 is 1.95, so 95% more grip. Mind the wording: this is research on grip socks in general (Apps et al. 2022, Journal of Sports Sciences, doi 10.1080/02640414.2022.2080163), not a test of the HÏ Grip sock itself. So never say 'HÏ Grip tested'. Friedl et al. 2023 shows mixed evidence; only the +9.3% utilised traction when braking is citable.
PHOTO: No photo: deliberately a typographic slide. If you want an image: a close-up of a sock gripping inside a shoe.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numbers: 3000+ athletes wear HÏ Grip, 10+ B2B partners, €22,000+ revenue. Profit: €12,000+. Channels: HÏ Grip Business, clubwear, pilates, retail. Review score 4.6 on Trustpilot (17 reviews on 3 September) may be mentioned, always with the source. The 3000+ was confirmed by Lars (15 September); never use the old 1,500+ again.
PHOTO: OWN needed. Screenshots or a mockup of Instagram and TikTok posts from customers (user generated content).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B2B partners in three groups. Retail: Sport2000 Naaldwijk and Sport2000 Nootdorp. Clubs: Concordia Delft, V.V. Spirit, V.V. Lyra De Lier. Gyms: SYTH and MyHealthClub. 10+ organisations in total; be careful with this number, it has not been counted exactly.
PHOTO: OWN. Retail: product photo on black background (Productfoto's). Clubs: TVB Open (KC8A0061); there are no photos of the partner clubs themselves yet. Gyms: OVER ONS PILATES. Replace with images at the real partners (with their permission).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Grip Socks 2.0. Selling price €17.95 incl. VAT (webshop and retail recommended price are equal, decision Lars 2 October). [CHECK] The gross margin of 65.9% and the potential profit of €58,780 come from the old pitch, calculated with a selling price of €17.99 and a cost price of €5.77. Verify both against the current price and cost before the pitch, then remove the CHECK labels from the slide.
PHOTO: OWN. Drive &gt; TVB Open 2026 (KC8A0031): packaged socks. For a real production photo: ask the supplier or shoot a packing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comes after the Performance Grip Socks. Performance Tubes and Performance Ski Socks · ALPINE PRO: coming soon. Do not mention a launch date or product claims; they are not fixed in the facts file. Internally the financial plan schedules ski socks with gel protection for Q4 2027, but that is an internal assumption and not a public promise. Performance Academy: the community of HÏ Grip athletes, connected by events, sportswear and trust. Also in development: high-end sportswear, data gadgets, compression, outdoor, recovery and trend-driven branding.
PHOTO: Tubes: OWN needed (prototype/samples); the Drive folder PERFORMANCE TUBES is empty, so this is a placeholder. Ski: design from Drive &gt; Productfoto's &gt; PERFORMANCE SKI SOCKS (4.png), a design and not yet a real photo. Academy: TVB Open (KC8A0140).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2026 to 2031. 2026–27: scale B2B, optimise the supply chain, Performance Academy, partnerships with universities. 2028–29: B2B network across the Netherlands, partnerships with professional clubs, then EU expansion. 2031: leading Dutch performance sportswear brand. The old pitch had a joke here about living in and being everywhere in the Netherlands; use it in your talk.
PHOTO: OWN. Drive &gt; Over Ons &gt; ROTTERDAM BUSINESS SCHOOL (IMG_0442). Need a stronger 'Netherlands' image? Stock search term: 'Dutch sports field sunset'.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the three founders. Lars Cretz: football, tennis; finance, design, Meta, TikTok, AI, R&amp;D, fulfilment. Tigo Twigt: skiing, football, running; sales, operations, B2B, LinkedIn, website, email marketing, customer service. Timo Heijligers: snowboarding, gym; B2B, purchasing, website, finance, R&amp;D, ads, import, sales. Tell for each person why you believe in this.
PHOTO: OWN. Drive &gt; Over Ons: LARS OUD, TIGO OUD, TIMO OUD (sports action photos). 'OUD' and 'JONG' in the file names are assumed to mean older and child; please check. Real portraits are even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Denzel is our AI content agent running 24/7: fully integrated in the workflow via Claude, Higgsfield, Obsidian and VS Code. Tasks: website creative, partner research, edit and caption, idea generation, strategic thinking. Coaches: Hans Scheffer (creative mentor), Bianca Verschuren (industry mentor), Robert Ruisaard (entrepreneurial mentor) and Jeroen Cremers (add role). We do this alongside our studies.
PHOTO: OWN. Drive &gt; Over Ons: AUDITORIUM (pitch to a packed room). Better: a photo with the coaches or the workspace with Denzel.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Capital requirement at 31 December (excl. VAT), from Financial Plan 2026–2031 (v5 balance 31-12): 2026 €13,260, 2027 €25,100, 2028 €69,700, 2029 €172,100, 2030 €263,800, 2031 €374,300. Most of it is inventory, B2B receivables and cash buffer. The plan is profitable every year (net result 2027 €28,380 to 2031 €96,904) and the capital requirement, financing plan and operating budget reconcile. Note: in that model only Qredits €25,000 (2028) is new money next to the investor's loan (€25,000, 2026); the model states that an extra investor is not needed. Make sure your story around the €50,000 ask matches this and explain why extra capital speeds up growth.
PHOTO: No photo: deliberately a typographic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€50,000. Split: €20,000 for purchasing ski socks (FOB plus logistics) and €30,000 for marketing and content: influencers, Meta ads, content shoots and physical events. Why now: proven traction with returning customers, a driven team with broad skills, financially healthy with margins in both B2B and B2C. Check the fit with the financial plan before the pitch (see slide 13).
PHOTO: OWN. Drive &gt; TVB Open 2026 (KC8A0034-2): founder with a pack of socks. Better: a team photo of all three with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slogan and the contact details: info@higrip.nl and higrip.nl. Actively ask for a conversation.
PHOTO: OWN. Drive &gt; Content B2C &gt; Sporten &gt; TENNIS &gt; Wit 2.0 (IMG_4210).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_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_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0" y="502920"/>
            <a:ext cx="5212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01-open-tennis-klei.jpg" descr="Tennis player in a black HÏ Grip shirt on a clay court (TVB Ope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Dimlaa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Label foto-type"/>
          <p:cNvSpPr/>
          <p:nvPr/>
        </p:nvSpPr>
        <p:spPr>
          <a:xfrm>
            <a:off x="2286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Label tekst"/>
          <p:cNvSpPr txBox="1"/>
          <p:nvPr/>
        </p:nvSpPr>
        <p:spPr>
          <a:xfrm>
            <a:off x="2286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GOING WHEN OTHERS STOP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INVESTMENT PITCH 2026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5669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GRIP, BETTER PERFORMANCE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5669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LARS · TIGO · TIMO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02-waarom-tigo-jong.jpg" descr="Tigo as a boy with a footb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94076" cy="6858000"/>
          </a:xfrm>
          <a:prstGeom prst="rect">
            <a:avLst/>
          </a:prstGeom>
        </p:spPr>
      </p:pic>
      <p:sp>
        <p:nvSpPr>
          <p:cNvPr id="3" name="Label foto-type"/>
          <p:cNvSpPr/>
          <p:nvPr/>
        </p:nvSpPr>
        <p:spPr>
          <a:xfrm>
            <a:off x="2286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Label tekst"/>
          <p:cNvSpPr txBox="1"/>
          <p:nvPr/>
        </p:nvSpPr>
        <p:spPr>
          <a:xfrm>
            <a:off x="2286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pic>
        <p:nvPicPr>
          <p:cNvPr id="5" name="Foto slide-02-waarom-timo-jong.jpg" descr="Timo as a boy with a troph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6" y="0"/>
            <a:ext cx="2894076" cy="685800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0" y="5029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WE BUILD THIS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25786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Punt 01"/>
          <p:cNvSpPr txBox="1"/>
          <p:nvPr/>
        </p:nvSpPr>
        <p:spPr>
          <a:xfrm>
            <a:off x="7223760" y="2468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PLAY SPORTS OURSELVES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38587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Punt 02"/>
          <p:cNvSpPr txBox="1"/>
          <p:nvPr/>
        </p:nvSpPr>
        <p:spPr>
          <a:xfrm>
            <a:off x="7223760" y="3749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SLIPPING COSTS CONFIDENCE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51389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Punt 03"/>
          <p:cNvSpPr txBox="1"/>
          <p:nvPr/>
        </p:nvSpPr>
        <p:spPr>
          <a:xfrm>
            <a:off x="722376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BUILT GRIP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03-probleem-tennis-actie.jpg" descr="Tennis player going all in on clay (TVB Ope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Label foto-type"/>
          <p:cNvSpPr/>
          <p:nvPr/>
        </p:nvSpPr>
        <p:spPr>
          <a:xfrm>
            <a:off x="66294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Label tekst"/>
          <p:cNvSpPr txBox="1"/>
          <p:nvPr/>
        </p:nvSpPr>
        <p:spPr>
          <a:xfrm>
            <a:off x="66294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5029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ATHLETES KEEP SLIPPING</a:t>
            </a:r>
            <a:endParaRPr lang="en-US" sz="4000" dirty="0"/>
          </a:p>
        </p:txBody>
      </p:sp>
      <p:sp>
        <p:nvSpPr>
          <p:cNvPr id="6" name="Stat 20–60%"/>
          <p:cNvSpPr txBox="1"/>
          <p:nvPr/>
        </p:nvSpPr>
        <p:spPr>
          <a:xfrm>
            <a:off x="548640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20–60%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2194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ATHLETES WITH BLISTERS</a:t>
            </a:r>
            <a:endParaRPr lang="en-US" sz="1400" dirty="0"/>
          </a:p>
        </p:txBody>
      </p:sp>
      <p:sp>
        <p:nvSpPr>
          <p:cNvPr id="8" name="Stat 5.3M"/>
          <p:cNvSpPr txBox="1"/>
          <p:nvPr/>
        </p:nvSpPr>
        <p:spPr>
          <a:xfrm>
            <a:off x="548640" y="3566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5.3M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SPORTS INJURIES NL, 2023</a:t>
            </a:r>
            <a:endParaRPr lang="en-US" sz="1400" dirty="0"/>
          </a:p>
        </p:txBody>
      </p:sp>
      <p:sp>
        <p:nvSpPr>
          <p:cNvPr id="10" name="Stat 13%"/>
          <p:cNvSpPr txBox="1"/>
          <p:nvPr/>
        </p:nvSpPr>
        <p:spPr>
          <a:xfrm>
            <a:off x="548640" y="5029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13%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5120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FOOTBALL INJURIES: ANKLE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04-oplossing-productfoto-zwart.jpg" descr="Performance Grip Socks 2.0 black, product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Label foto-type"/>
          <p:cNvSpPr/>
          <p:nvPr/>
        </p:nvSpPr>
        <p:spPr>
          <a:xfrm>
            <a:off x="66294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Label tekst"/>
          <p:cNvSpPr txBox="1"/>
          <p:nvPr/>
        </p:nvSpPr>
        <p:spPr>
          <a:xfrm>
            <a:off x="66294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5029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GIVE YOU GRIP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Pijler INNOVATION"/>
          <p:cNvSpPr txBox="1"/>
          <p:nvPr/>
        </p:nvSpPr>
        <p:spPr>
          <a:xfrm>
            <a:off x="137160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STANDING STILL IS FALLING BEHIND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Pijler COMFORT"/>
          <p:cNvSpPr txBox="1"/>
          <p:nvPr/>
        </p:nvSpPr>
        <p:spPr>
          <a:xfrm>
            <a:off x="137160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 FOR LONGER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Pijler CONFIDENCE"/>
          <p:cNvSpPr txBox="1"/>
          <p:nvPr/>
        </p:nvSpPr>
        <p:spPr>
          <a:xfrm>
            <a:off x="137160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YOUR GEAR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PROVEN: 95% MORE GRIP</a:t>
            </a:r>
            <a:endParaRPr lang="en-US" sz="4400" dirty="0"/>
          </a:p>
        </p:txBody>
      </p:sp>
      <p:sp>
        <p:nvSpPr>
          <p:cNvPr id="3" name="Stat 0.60"/>
          <p:cNvSpPr txBox="1"/>
          <p:nvPr/>
        </p:nvSpPr>
        <p:spPr>
          <a:xfrm>
            <a:off x="548640" y="21945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0.60</a:t>
            </a:r>
            <a:endParaRPr lang="en-US" sz="8000" dirty="0"/>
          </a:p>
        </p:txBody>
      </p:sp>
      <p:sp>
        <p:nvSpPr>
          <p:cNvPr id="4" name="Label 0.60"/>
          <p:cNvSpPr txBox="1"/>
          <p:nvPr/>
        </p:nvSpPr>
        <p:spPr>
          <a:xfrm>
            <a:off x="54864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REGULAR SOCKS</a:t>
            </a:r>
            <a:endParaRPr lang="en-US" sz="1400" dirty="0"/>
          </a:p>
        </p:txBody>
      </p:sp>
      <p:sp>
        <p:nvSpPr>
          <p:cNvPr id="5" name="Stat 1.17"/>
          <p:cNvSpPr txBox="1"/>
          <p:nvPr/>
        </p:nvSpPr>
        <p:spPr>
          <a:xfrm>
            <a:off x="4297680" y="21945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1.17</a:t>
            </a:r>
            <a:endParaRPr lang="en-US" sz="8000" dirty="0"/>
          </a:p>
        </p:txBody>
      </p:sp>
      <p:sp>
        <p:nvSpPr>
          <p:cNvPr id="6" name="Label 1.17"/>
          <p:cNvSpPr txBox="1"/>
          <p:nvPr/>
        </p:nvSpPr>
        <p:spPr>
          <a:xfrm>
            <a:off x="429768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GRIP SOCKS</a:t>
            </a:r>
            <a:endParaRPr lang="en-US" sz="1400" dirty="0"/>
          </a:p>
        </p:txBody>
      </p:sp>
      <p:sp>
        <p:nvSpPr>
          <p:cNvPr id="7" name="Stat +95%"/>
          <p:cNvSpPr txBox="1"/>
          <p:nvPr/>
        </p:nvSpPr>
        <p:spPr>
          <a:xfrm>
            <a:off x="8046720" y="21945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+95%</a:t>
            </a:r>
            <a:endParaRPr lang="en-US" sz="8000" dirty="0"/>
          </a:p>
        </p:txBody>
      </p:sp>
      <p:sp>
        <p:nvSpPr>
          <p:cNvPr id="8" name="Label +95%"/>
          <p:cNvSpPr txBox="1"/>
          <p:nvPr/>
        </p:nvSpPr>
        <p:spPr>
          <a:xfrm>
            <a:off x="804672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GRIP</a:t>
            </a:r>
            <a:endParaRPr lang="en-US" sz="1400" dirty="0"/>
          </a:p>
        </p:txBody>
      </p:sp>
      <p:sp>
        <p:nvSpPr>
          <p:cNvPr id="9" name="Bronregel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Scientifically shown: grip socks raise the static friction coefficient from 0.60 to 1.17 (Apps et al. 2022, Journal of Sports Sciences).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TRACTION IS ALREADY THERE</a:t>
            </a:r>
            <a:endParaRPr lang="en-US" sz="4400" dirty="0"/>
          </a:p>
        </p:txBody>
      </p:sp>
      <p:sp>
        <p:nvSpPr>
          <p:cNvPr id="3" name="Stat 3000+"/>
          <p:cNvSpPr txBox="1"/>
          <p:nvPr/>
        </p:nvSpPr>
        <p:spPr>
          <a:xfrm>
            <a:off x="54864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3000+</a:t>
            </a:r>
            <a:endParaRPr lang="en-US" sz="5000" dirty="0"/>
          </a:p>
        </p:txBody>
      </p:sp>
      <p:sp>
        <p:nvSpPr>
          <p:cNvPr id="4" name="Label 3000+"/>
          <p:cNvSpPr txBox="1"/>
          <p:nvPr/>
        </p:nvSpPr>
        <p:spPr>
          <a:xfrm>
            <a:off x="54864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ATHLETES WEAR HÏ GRIP</a:t>
            </a:r>
            <a:endParaRPr lang="en-US" sz="1400" dirty="0"/>
          </a:p>
        </p:txBody>
      </p:sp>
      <p:sp>
        <p:nvSpPr>
          <p:cNvPr id="5" name="Stat 10+"/>
          <p:cNvSpPr txBox="1"/>
          <p:nvPr/>
        </p:nvSpPr>
        <p:spPr>
          <a:xfrm>
            <a:off x="429768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10+</a:t>
            </a:r>
            <a:endParaRPr lang="en-US" sz="5000" dirty="0"/>
          </a:p>
        </p:txBody>
      </p:sp>
      <p:sp>
        <p:nvSpPr>
          <p:cNvPr id="6" name="Label 10+"/>
          <p:cNvSpPr txBox="1"/>
          <p:nvPr/>
        </p:nvSpPr>
        <p:spPr>
          <a:xfrm>
            <a:off x="429768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PARTNERS</a:t>
            </a:r>
            <a:endParaRPr lang="en-US" sz="1400" dirty="0"/>
          </a:p>
        </p:txBody>
      </p:sp>
      <p:sp>
        <p:nvSpPr>
          <p:cNvPr id="7" name="Stat €22,000+"/>
          <p:cNvSpPr txBox="1"/>
          <p:nvPr/>
        </p:nvSpPr>
        <p:spPr>
          <a:xfrm>
            <a:off x="804672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€22,000+</a:t>
            </a:r>
            <a:endParaRPr lang="en-US" sz="5000" dirty="0"/>
          </a:p>
        </p:txBody>
      </p:sp>
      <p:sp>
        <p:nvSpPr>
          <p:cNvPr id="8" name="Label €22,000+"/>
          <p:cNvSpPr txBox="1"/>
          <p:nvPr/>
        </p:nvSpPr>
        <p:spPr>
          <a:xfrm>
            <a:off x="804672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1400" dirty="0"/>
          </a:p>
        </p:txBody>
      </p:sp>
      <p:sp>
        <p:nvSpPr>
          <p:cNvPr id="9" name="Foto placeholder"/>
          <p:cNvSpPr/>
          <p:nvPr/>
        </p:nvSpPr>
        <p:spPr>
          <a:xfrm>
            <a:off x="0" y="4526280"/>
            <a:ext cx="12188952" cy="2331720"/>
          </a:xfrm>
          <a:prstGeom prst="rect">
            <a:avLst/>
          </a:prstGeom>
          <a:solidFill>
            <a:schemeClr val="accent6">
              <a:alpha val="6500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0" name="Fotobeschrijving"/>
          <p:cNvSpPr txBox="1"/>
          <p:nvPr/>
        </p:nvSpPr>
        <p:spPr>
          <a:xfrm>
            <a:off x="274320" y="4983480"/>
            <a:ext cx="11640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Screenshots of Instagram and TikTok posts from customers and athletes wearing HÏ Grip</a:t>
            </a:r>
            <a:endParaRPr lang="en-US" sz="1400" dirty="0"/>
          </a:p>
        </p:txBody>
      </p:sp>
      <p:sp>
        <p:nvSpPr>
          <p:cNvPr id="11" name="Label foto-type"/>
          <p:cNvSpPr/>
          <p:nvPr/>
        </p:nvSpPr>
        <p:spPr>
          <a:xfrm>
            <a:off x="228600" y="47548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Label tekst"/>
          <p:cNvSpPr txBox="1"/>
          <p:nvPr/>
        </p:nvSpPr>
        <p:spPr>
          <a:xfrm>
            <a:off x="228600" y="4754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ALREADY WEAR US</a:t>
            </a:r>
            <a:endParaRPr lang="en-US" sz="4400" dirty="0"/>
          </a:p>
        </p:txBody>
      </p:sp>
      <p:pic>
        <p:nvPicPr>
          <p:cNvPr id="3" name="Foto slide-07-retail-product-zwarte-achtergrond.jpg" descr="Grip sock product photo, black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520440" cy="3566160"/>
          </a:xfrm>
          <a:prstGeom prst="rect">
            <a:avLst/>
          </a:prstGeom>
        </p:spPr>
      </p:pic>
      <p:sp>
        <p:nvSpPr>
          <p:cNvPr id="4" name="Label foto-type"/>
          <p:cNvSpPr/>
          <p:nvPr/>
        </p:nvSpPr>
        <p:spPr>
          <a:xfrm>
            <a:off x="77724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Label tekst"/>
          <p:cNvSpPr txBox="1"/>
          <p:nvPr/>
        </p:nvSpPr>
        <p:spPr>
          <a:xfrm>
            <a:off x="77724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32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</a:t>
            </a:r>
            <a:endParaRPr lang="en-US" sz="1400" dirty="0"/>
          </a:p>
        </p:txBody>
      </p:sp>
      <p:sp>
        <p:nvSpPr>
          <p:cNvPr id="7" name="Partner RETAIL"/>
          <p:cNvSpPr txBox="1"/>
          <p:nvPr/>
        </p:nvSpPr>
        <p:spPr>
          <a:xfrm>
            <a:off x="548640" y="5852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Sport2000</a:t>
            </a:r>
            <a:endParaRPr lang="en-US" sz="2000" dirty="0"/>
          </a:p>
        </p:txBody>
      </p:sp>
      <p:pic>
        <p:nvPicPr>
          <p:cNvPr id="8" name="Foto slide-07-clubs-tennisclub.jpg" descr="Players wearing HÏ Grip socks on court (TVB Open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3520440" cy="3566160"/>
          </a:xfrm>
          <a:prstGeom prst="rect">
            <a:avLst/>
          </a:prstGeom>
        </p:spPr>
      </p:pic>
      <p:sp>
        <p:nvSpPr>
          <p:cNvPr id="9" name="Label foto-type"/>
          <p:cNvSpPr/>
          <p:nvPr/>
        </p:nvSpPr>
        <p:spPr>
          <a:xfrm>
            <a:off x="457200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Label tekst"/>
          <p:cNvSpPr txBox="1"/>
          <p:nvPr/>
        </p:nvSpPr>
        <p:spPr>
          <a:xfrm>
            <a:off x="457200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5532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CLUBS</a:t>
            </a:r>
            <a:endParaRPr lang="en-US" sz="1400" dirty="0"/>
          </a:p>
        </p:txBody>
      </p:sp>
      <p:sp>
        <p:nvSpPr>
          <p:cNvPr id="12" name="Partner CLUBS"/>
          <p:cNvSpPr txBox="1"/>
          <p:nvPr/>
        </p:nvSpPr>
        <p:spPr>
          <a:xfrm>
            <a:off x="4343400" y="5852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Concordia · Spirit · Lyra</a:t>
            </a:r>
            <a:endParaRPr lang="en-US" sz="2000" dirty="0"/>
          </a:p>
        </p:txBody>
      </p:sp>
      <p:pic>
        <p:nvPicPr>
          <p:cNvPr id="13" name="Foto slide-07-gyms-pilates.jpg" descr="Founder in an HÏ Grip shirt at a pilates refor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83080"/>
            <a:ext cx="3520440" cy="3566160"/>
          </a:xfrm>
          <a:prstGeom prst="rect">
            <a:avLst/>
          </a:prstGeom>
        </p:spPr>
      </p:pic>
      <p:sp>
        <p:nvSpPr>
          <p:cNvPr id="14" name="Label foto-type"/>
          <p:cNvSpPr/>
          <p:nvPr/>
        </p:nvSpPr>
        <p:spPr>
          <a:xfrm>
            <a:off x="836676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Label tekst"/>
          <p:cNvSpPr txBox="1"/>
          <p:nvPr/>
        </p:nvSpPr>
        <p:spPr>
          <a:xfrm>
            <a:off x="836676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138160" y="5532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GYMS</a:t>
            </a:r>
            <a:endParaRPr lang="en-US" sz="1400" dirty="0"/>
          </a:p>
        </p:txBody>
      </p:sp>
      <p:sp>
        <p:nvSpPr>
          <p:cNvPr id="17" name="Partner GYMS"/>
          <p:cNvSpPr txBox="1"/>
          <p:nvPr/>
        </p:nvSpPr>
        <p:spPr>
          <a:xfrm>
            <a:off x="8138160" y="5852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SYTH · MyHealthClub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08-marges-verpakking.jpg" descr="Packaged HÏ Grip socks in a 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88152" cy="6858000"/>
          </a:xfrm>
          <a:prstGeom prst="rect">
            <a:avLst/>
          </a:prstGeom>
        </p:spPr>
      </p:pic>
      <p:sp>
        <p:nvSpPr>
          <p:cNvPr id="3" name="Label foto-type"/>
          <p:cNvSpPr/>
          <p:nvPr/>
        </p:nvSpPr>
        <p:spPr>
          <a:xfrm>
            <a:off x="2286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Label tekst"/>
          <p:cNvSpPr txBox="1"/>
          <p:nvPr/>
        </p:nvSpPr>
        <p:spPr>
          <a:xfrm>
            <a:off x="2286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0" y="5029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HEALTHY MARGINS</a:t>
            </a:r>
            <a:endParaRPr lang="en-US" sz="4000" dirty="0"/>
          </a:p>
        </p:txBody>
      </p:sp>
      <p:sp>
        <p:nvSpPr>
          <p:cNvPr id="6" name="Stat 65.9%"/>
          <p:cNvSpPr txBox="1"/>
          <p:nvPr/>
        </p:nvSpPr>
        <p:spPr>
          <a:xfrm>
            <a:off x="640080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65.9%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2194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GROSS MARGIN [CHECK]</a:t>
            </a:r>
            <a:endParaRPr lang="en-US" sz="1400" dirty="0"/>
          </a:p>
        </p:txBody>
      </p:sp>
      <p:sp>
        <p:nvSpPr>
          <p:cNvPr id="8" name="Stat €17.95"/>
          <p:cNvSpPr txBox="1"/>
          <p:nvPr/>
        </p:nvSpPr>
        <p:spPr>
          <a:xfrm>
            <a:off x="640080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€17.95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 PRICE 2.0</a:t>
            </a:r>
            <a:endParaRPr lang="en-US" sz="1400" dirty="0"/>
          </a:p>
        </p:txBody>
      </p:sp>
      <p:sp>
        <p:nvSpPr>
          <p:cNvPr id="10" name="Stat €58,780"/>
          <p:cNvSpPr txBox="1"/>
          <p:nvPr/>
        </p:nvSpPr>
        <p:spPr>
          <a:xfrm>
            <a:off x="640080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€58,780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5120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POT. PROFIT [CHECK]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FUTURE OF HÏ GRIP</a:t>
            </a:r>
            <a:endParaRPr lang="en-US" sz="4400" dirty="0"/>
          </a:p>
        </p:txBody>
      </p:sp>
      <p:sp>
        <p:nvSpPr>
          <p:cNvPr id="3" name="Foto placeholder"/>
          <p:cNvSpPr/>
          <p:nvPr/>
        </p:nvSpPr>
        <p:spPr>
          <a:xfrm>
            <a:off x="548640" y="1783080"/>
            <a:ext cx="3520440" cy="3566160"/>
          </a:xfrm>
          <a:prstGeom prst="rect">
            <a:avLst/>
          </a:prstGeom>
          <a:solidFill>
            <a:schemeClr val="accent6">
              <a:alpha val="6500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" name="Fotobeschrijving"/>
          <p:cNvSpPr txBox="1"/>
          <p:nvPr/>
        </p:nvSpPr>
        <p:spPr>
          <a:xfrm>
            <a:off x="822960" y="22402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or first samples of the Performance Tubes, footless socks, studio</a:t>
            </a:r>
            <a:endParaRPr lang="en-US" sz="1400" dirty="0"/>
          </a:p>
        </p:txBody>
      </p:sp>
      <p:sp>
        <p:nvSpPr>
          <p:cNvPr id="5" name="Label foto-type"/>
          <p:cNvSpPr/>
          <p:nvPr/>
        </p:nvSpPr>
        <p:spPr>
          <a:xfrm>
            <a:off x="77724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Label tekst"/>
          <p:cNvSpPr txBox="1"/>
          <p:nvPr/>
        </p:nvSpPr>
        <p:spPr>
          <a:xfrm>
            <a:off x="77724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7" name="Product PERFORMANCE TUBES"/>
          <p:cNvSpPr txBox="1"/>
          <p:nvPr/>
        </p:nvSpPr>
        <p:spPr>
          <a:xfrm>
            <a:off x="548640" y="5532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TUBES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COMING SOON</a:t>
            </a:r>
            <a:endParaRPr lang="en-US" sz="1200" dirty="0"/>
          </a:p>
        </p:txBody>
      </p:sp>
      <p:pic>
        <p:nvPicPr>
          <p:cNvPr id="9" name="Foto slide-09-skisokken-ontwerp.jpg" descr="Design of the first Ski Socks · ALPINE P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83080"/>
            <a:ext cx="3520440" cy="3566160"/>
          </a:xfrm>
          <a:prstGeom prst="rect">
            <a:avLst/>
          </a:prstGeom>
        </p:spPr>
      </p:pic>
      <p:sp>
        <p:nvSpPr>
          <p:cNvPr id="10" name="Label foto-type"/>
          <p:cNvSpPr/>
          <p:nvPr/>
        </p:nvSpPr>
        <p:spPr>
          <a:xfrm>
            <a:off x="457200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Label tekst"/>
          <p:cNvSpPr txBox="1"/>
          <p:nvPr/>
        </p:nvSpPr>
        <p:spPr>
          <a:xfrm>
            <a:off x="457200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12" name="Product SKI SOCKS · ALPINE PRO"/>
          <p:cNvSpPr txBox="1"/>
          <p:nvPr/>
        </p:nvSpPr>
        <p:spPr>
          <a:xfrm>
            <a:off x="4343400" y="5532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 SOCKS · ALPINE PRO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5989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COMING SOON</a:t>
            </a:r>
            <a:endParaRPr lang="en-US" sz="1200" dirty="0"/>
          </a:p>
        </p:txBody>
      </p:sp>
      <p:pic>
        <p:nvPicPr>
          <p:cNvPr id="14" name="Foto slide-09-academy-tvb-open.jpg" descr="Athlete in action at the TVB 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783080"/>
            <a:ext cx="3520440" cy="3566160"/>
          </a:xfrm>
          <a:prstGeom prst="rect">
            <a:avLst/>
          </a:prstGeom>
        </p:spPr>
      </p:pic>
      <p:sp>
        <p:nvSpPr>
          <p:cNvPr id="15" name="Label foto-type"/>
          <p:cNvSpPr/>
          <p:nvPr/>
        </p:nvSpPr>
        <p:spPr>
          <a:xfrm>
            <a:off x="836676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Label tekst"/>
          <p:cNvSpPr txBox="1"/>
          <p:nvPr/>
        </p:nvSpPr>
        <p:spPr>
          <a:xfrm>
            <a:off x="836676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17" name="Product PERFORMANCE ACADEMY"/>
          <p:cNvSpPr txBox="1"/>
          <p:nvPr/>
        </p:nvSpPr>
        <p:spPr>
          <a:xfrm>
            <a:off x="8138160" y="5532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ACADEMY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138160" y="5989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OF ATHLETES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ROAD TO 2031</a:t>
            </a:r>
            <a:endParaRPr lang="en-US" sz="4400" dirty="0"/>
          </a:p>
        </p:txBody>
      </p:sp>
      <p:sp>
        <p:nvSpPr>
          <p:cNvPr id="3" name="Stat 2026–27"/>
          <p:cNvSpPr txBox="1"/>
          <p:nvPr/>
        </p:nvSpPr>
        <p:spPr>
          <a:xfrm>
            <a:off x="54864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2026–27</a:t>
            </a:r>
            <a:endParaRPr lang="en-US" sz="5400" dirty="0"/>
          </a:p>
        </p:txBody>
      </p:sp>
      <p:sp>
        <p:nvSpPr>
          <p:cNvPr id="4" name="Label 2026–27"/>
          <p:cNvSpPr txBox="1"/>
          <p:nvPr/>
        </p:nvSpPr>
        <p:spPr>
          <a:xfrm>
            <a:off x="54864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B2B AND SUPPLY CHAIN</a:t>
            </a:r>
            <a:endParaRPr lang="en-US" sz="1400" dirty="0"/>
          </a:p>
        </p:txBody>
      </p:sp>
      <p:sp>
        <p:nvSpPr>
          <p:cNvPr id="5" name="Stat 2028–29"/>
          <p:cNvSpPr txBox="1"/>
          <p:nvPr/>
        </p:nvSpPr>
        <p:spPr>
          <a:xfrm>
            <a:off x="429768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2028–29</a:t>
            </a:r>
            <a:endParaRPr lang="en-US" sz="5400" dirty="0"/>
          </a:p>
        </p:txBody>
      </p:sp>
      <p:sp>
        <p:nvSpPr>
          <p:cNvPr id="6" name="Label 2028–29"/>
          <p:cNvSpPr txBox="1"/>
          <p:nvPr/>
        </p:nvSpPr>
        <p:spPr>
          <a:xfrm>
            <a:off x="429768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NATIONWIDE, PRO CLUBS, EU</a:t>
            </a:r>
            <a:endParaRPr lang="en-US" sz="1400" dirty="0"/>
          </a:p>
        </p:txBody>
      </p:sp>
      <p:sp>
        <p:nvSpPr>
          <p:cNvPr id="7" name="Stat 2031"/>
          <p:cNvSpPr txBox="1"/>
          <p:nvPr/>
        </p:nvSpPr>
        <p:spPr>
          <a:xfrm>
            <a:off x="804672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2031</a:t>
            </a:r>
            <a:endParaRPr lang="en-US" sz="5400" dirty="0"/>
          </a:p>
        </p:txBody>
      </p:sp>
      <p:sp>
        <p:nvSpPr>
          <p:cNvPr id="8" name="Label 2031"/>
          <p:cNvSpPr txBox="1"/>
          <p:nvPr/>
        </p:nvSpPr>
        <p:spPr>
          <a:xfrm>
            <a:off x="804672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LEADER IN THE NETHERLANDS</a:t>
            </a:r>
            <a:endParaRPr lang="en-US" sz="1400" dirty="0"/>
          </a:p>
        </p:txBody>
      </p:sp>
      <p:pic>
        <p:nvPicPr>
          <p:cNvPr id="9" name="Foto slide-10-roadmap-rotterdam-business-school.jpg" descr="Rotterdam Business School, where it beg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26280"/>
            <a:ext cx="12188952" cy="2331720"/>
          </a:xfrm>
          <a:prstGeom prst="rect">
            <a:avLst/>
          </a:prstGeom>
        </p:spPr>
      </p:pic>
      <p:sp>
        <p:nvSpPr>
          <p:cNvPr id="10" name="Label foto-type"/>
          <p:cNvSpPr/>
          <p:nvPr/>
        </p:nvSpPr>
        <p:spPr>
          <a:xfrm>
            <a:off x="228600" y="47548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Label tekst"/>
          <p:cNvSpPr txBox="1"/>
          <p:nvPr/>
        </p:nvSpPr>
        <p:spPr>
          <a:xfrm>
            <a:off x="228600" y="4754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ARE HÏ GRIP</a:t>
            </a:r>
            <a:endParaRPr lang="en-US" sz="4400" dirty="0"/>
          </a:p>
        </p:txBody>
      </p:sp>
      <p:pic>
        <p:nvPicPr>
          <p:cNvPr id="3" name="Foto slide-11-lars.jpg" descr="Lars during a football m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520440" cy="3566160"/>
          </a:xfrm>
          <a:prstGeom prst="rect">
            <a:avLst/>
          </a:prstGeom>
        </p:spPr>
      </p:pic>
      <p:sp>
        <p:nvSpPr>
          <p:cNvPr id="4" name="Label foto-type"/>
          <p:cNvSpPr/>
          <p:nvPr/>
        </p:nvSpPr>
        <p:spPr>
          <a:xfrm>
            <a:off x="77724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Label tekst"/>
          <p:cNvSpPr txBox="1"/>
          <p:nvPr/>
        </p:nvSpPr>
        <p:spPr>
          <a:xfrm>
            <a:off x="77724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6" name="Founder LARS CRETZ"/>
          <p:cNvSpPr txBox="1"/>
          <p:nvPr/>
        </p:nvSpPr>
        <p:spPr>
          <a:xfrm>
            <a:off x="548640" y="5532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LARS CRETZ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FINANCE, DESIGN, ADS, AI</a:t>
            </a:r>
            <a:endParaRPr lang="en-US" sz="1200" dirty="0"/>
          </a:p>
        </p:txBody>
      </p:sp>
      <p:pic>
        <p:nvPicPr>
          <p:cNvPr id="8" name="Foto slide-11-tigo.jpg" descr="Tigo on the football pi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3520440" cy="3566160"/>
          </a:xfrm>
          <a:prstGeom prst="rect">
            <a:avLst/>
          </a:prstGeom>
        </p:spPr>
      </p:pic>
      <p:sp>
        <p:nvSpPr>
          <p:cNvPr id="9" name="Label foto-type"/>
          <p:cNvSpPr/>
          <p:nvPr/>
        </p:nvSpPr>
        <p:spPr>
          <a:xfrm>
            <a:off x="457200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Label tekst"/>
          <p:cNvSpPr txBox="1"/>
          <p:nvPr/>
        </p:nvSpPr>
        <p:spPr>
          <a:xfrm>
            <a:off x="457200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11" name="Founder TIGO TWIGT"/>
          <p:cNvSpPr txBox="1"/>
          <p:nvPr/>
        </p:nvSpPr>
        <p:spPr>
          <a:xfrm>
            <a:off x="4343400" y="5532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TIGO TWIGT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6035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SALES, B2B, WEBSITE</a:t>
            </a:r>
            <a:endParaRPr lang="en-US" sz="1200" dirty="0"/>
          </a:p>
        </p:txBody>
      </p:sp>
      <p:pic>
        <p:nvPicPr>
          <p:cNvPr id="13" name="Foto slide-11-timo.jpg" descr="Timo snowboarding in the sn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83080"/>
            <a:ext cx="3520440" cy="3566160"/>
          </a:xfrm>
          <a:prstGeom prst="rect">
            <a:avLst/>
          </a:prstGeom>
        </p:spPr>
      </p:pic>
      <p:sp>
        <p:nvSpPr>
          <p:cNvPr id="14" name="Label foto-type"/>
          <p:cNvSpPr/>
          <p:nvPr/>
        </p:nvSpPr>
        <p:spPr>
          <a:xfrm>
            <a:off x="8366760" y="20116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Label tekst"/>
          <p:cNvSpPr txBox="1"/>
          <p:nvPr/>
        </p:nvSpPr>
        <p:spPr>
          <a:xfrm>
            <a:off x="8366760" y="2011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16" name="Founder TIMO HEIJLIGERS"/>
          <p:cNvSpPr txBox="1"/>
          <p:nvPr/>
        </p:nvSpPr>
        <p:spPr>
          <a:xfrm>
            <a:off x="8138160" y="5532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TIMO HEIJLIGERS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6035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PURCHASING, IMPORT, B2B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12-pitch-auditorium.jpg" descr="We pitch HÏ Grip in a packed auditori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Label foto-type"/>
          <p:cNvSpPr/>
          <p:nvPr/>
        </p:nvSpPr>
        <p:spPr>
          <a:xfrm>
            <a:off x="66294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Label tekst"/>
          <p:cNvSpPr txBox="1"/>
          <p:nvPr/>
        </p:nvSpPr>
        <p:spPr>
          <a:xfrm>
            <a:off x="66294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5029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WE'RE NOT ALONE</a:t>
            </a:r>
            <a:endParaRPr lang="en-US" sz="4000" dirty="0"/>
          </a:p>
        </p:txBody>
      </p:sp>
      <p:sp>
        <p:nvSpPr>
          <p:cNvPr id="6" name="Blok DENZEL"/>
          <p:cNvSpPr txBox="1"/>
          <p:nvPr/>
        </p:nvSpPr>
        <p:spPr>
          <a:xfrm>
            <a:off x="548640" y="2194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DENZEL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TEAM MEMBER, 24/7</a:t>
            </a:r>
            <a:endParaRPr lang="en-US" sz="1200" dirty="0"/>
          </a:p>
        </p:txBody>
      </p:sp>
      <p:sp>
        <p:nvSpPr>
          <p:cNvPr id="8" name="Blok 4 COACHES"/>
          <p:cNvSpPr txBox="1"/>
          <p:nvPr/>
        </p:nvSpPr>
        <p:spPr>
          <a:xfrm>
            <a:off x="548640" y="3566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COACHES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HANS · BIANCA · ROBERT · JEROEN</a:t>
            </a:r>
            <a:endParaRPr lang="en-US" sz="1200" dirty="0"/>
          </a:p>
        </p:txBody>
      </p:sp>
      <p:sp>
        <p:nvSpPr>
          <p:cNvPr id="10" name="Blok ALONGSIDE OUR STUDIES"/>
          <p:cNvSpPr txBox="1"/>
          <p:nvPr/>
        </p:nvSpPr>
        <p:spPr>
          <a:xfrm>
            <a:off x="548640" y="49377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ALONGSIDE OUR STUDIES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32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BY THREE FOUNDERS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GROWTH TAKES</a:t>
            </a:r>
            <a:endParaRPr lang="en-US" sz="4400" dirty="0"/>
          </a:p>
        </p:txBody>
      </p:sp>
      <p:sp>
        <p:nvSpPr>
          <p:cNvPr id="3" name="Stat €25,100"/>
          <p:cNvSpPr txBox="1"/>
          <p:nvPr/>
        </p:nvSpPr>
        <p:spPr>
          <a:xfrm>
            <a:off x="548640" y="21945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€25,100</a:t>
            </a:r>
            <a:endParaRPr lang="en-US" sz="4800" dirty="0"/>
          </a:p>
        </p:txBody>
      </p:sp>
      <p:sp>
        <p:nvSpPr>
          <p:cNvPr id="4" name="Label €25,100"/>
          <p:cNvSpPr txBox="1"/>
          <p:nvPr/>
        </p:nvSpPr>
        <p:spPr>
          <a:xfrm>
            <a:off x="54864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2027</a:t>
            </a:r>
            <a:endParaRPr lang="en-US" sz="1400" dirty="0"/>
          </a:p>
        </p:txBody>
      </p:sp>
      <p:sp>
        <p:nvSpPr>
          <p:cNvPr id="5" name="Stat €172,100"/>
          <p:cNvSpPr txBox="1"/>
          <p:nvPr/>
        </p:nvSpPr>
        <p:spPr>
          <a:xfrm>
            <a:off x="4297680" y="21945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€172,100</a:t>
            </a:r>
            <a:endParaRPr lang="en-US" sz="4800" dirty="0"/>
          </a:p>
        </p:txBody>
      </p:sp>
      <p:sp>
        <p:nvSpPr>
          <p:cNvPr id="6" name="Label €172,100"/>
          <p:cNvSpPr txBox="1"/>
          <p:nvPr/>
        </p:nvSpPr>
        <p:spPr>
          <a:xfrm>
            <a:off x="429768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2029</a:t>
            </a:r>
            <a:endParaRPr lang="en-US" sz="1400" dirty="0"/>
          </a:p>
        </p:txBody>
      </p:sp>
      <p:sp>
        <p:nvSpPr>
          <p:cNvPr id="7" name="Stat €374,300"/>
          <p:cNvSpPr txBox="1"/>
          <p:nvPr/>
        </p:nvSpPr>
        <p:spPr>
          <a:xfrm>
            <a:off x="8046720" y="21945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€374,300</a:t>
            </a:r>
            <a:endParaRPr lang="en-US" sz="4800" dirty="0"/>
          </a:p>
        </p:txBody>
      </p:sp>
      <p:sp>
        <p:nvSpPr>
          <p:cNvPr id="8" name="Label €374,300"/>
          <p:cNvSpPr txBox="1"/>
          <p:nvPr/>
        </p:nvSpPr>
        <p:spPr>
          <a:xfrm>
            <a:off x="804672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2031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REQUIREMENT AT 31 DECEMBER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14-vraag-founders-product.jpg" descr="Founder in an HÏ Grip shirt holding a pack of so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Dimlaa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Label foto-type"/>
          <p:cNvSpPr/>
          <p:nvPr/>
        </p:nvSpPr>
        <p:spPr>
          <a:xfrm>
            <a:off x="2286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Label tekst"/>
          <p:cNvSpPr txBox="1"/>
          <p:nvPr/>
        </p:nvSpPr>
        <p:spPr>
          <a:xfrm>
            <a:off x="2286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WE'RE ASKING €50,000</a:t>
            </a:r>
            <a:endParaRPr lang="en-US" sz="6000" dirty="0"/>
          </a:p>
        </p:txBody>
      </p:sp>
      <p:sp>
        <p:nvSpPr>
          <p:cNvPr id="7" name="Bestedingsblok"/>
          <p:cNvSpPr/>
          <p:nvPr/>
        </p:nvSpPr>
        <p:spPr>
          <a:xfrm>
            <a:off x="548640" y="5120640"/>
            <a:ext cx="5440680" cy="1417320"/>
          </a:xfrm>
          <a:prstGeom prst="rect">
            <a:avLst/>
          </a:prstGeom>
          <a:solidFill>
            <a:schemeClr val="tx1">
              <a:alpha val="75000"/>
            </a:schemeClr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" name="Bedrag €20,000"/>
          <p:cNvSpPr txBox="1"/>
          <p:nvPr/>
        </p:nvSpPr>
        <p:spPr>
          <a:xfrm>
            <a:off x="822960" y="5212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€20,000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 SOCK PURCHASING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5852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FOB + LOGISTICS</a:t>
            </a:r>
            <a:endParaRPr lang="en-US" sz="1000" dirty="0"/>
          </a:p>
        </p:txBody>
      </p:sp>
      <p:sp>
        <p:nvSpPr>
          <p:cNvPr id="11" name="Bestedingsblok"/>
          <p:cNvSpPr/>
          <p:nvPr/>
        </p:nvSpPr>
        <p:spPr>
          <a:xfrm>
            <a:off x="6172200" y="5120640"/>
            <a:ext cx="5440680" cy="1417320"/>
          </a:xfrm>
          <a:prstGeom prst="rect">
            <a:avLst/>
          </a:prstGeom>
          <a:solidFill>
            <a:schemeClr val="tx1">
              <a:alpha val="75000"/>
            </a:schemeClr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" name="Bedrag €30,000"/>
          <p:cNvSpPr txBox="1"/>
          <p:nvPr/>
        </p:nvSpPr>
        <p:spPr>
          <a:xfrm>
            <a:off x="6446520" y="5212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€30,000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AND CONTENT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5852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INFLUENCERS · ADS · SHOOTS · EVENTS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lide-15-slot-tennis-actie.jpg" descr="Tennis player in action on clay (TVB Ope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Dimlaa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Label foto-type"/>
          <p:cNvSpPr/>
          <p:nvPr/>
        </p:nvSpPr>
        <p:spPr>
          <a:xfrm>
            <a:off x="228600" y="2286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Label tekst"/>
          <p:cNvSpPr txBox="1"/>
          <p:nvPr/>
        </p:nvSpPr>
        <p:spPr>
          <a:xfrm>
            <a:off x="228600" y="228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PHOTO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GOING WHEN OTHERS STOP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INFO@HIGRIP.NL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5669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HIGRIP.NL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LARS · TIGO · TIMO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 Grip">
  <a:themeElements>
    <a:clrScheme name="HI Grip">
      <a:dk1>
        <a:srgbClr val="000000"/>
      </a:dk1>
      <a:lt1>
        <a:srgbClr val="FFFFFF"/>
      </a:lt1>
      <a:dk2>
        <a:srgbClr val="111111"/>
      </a:dk2>
      <a:lt2>
        <a:srgbClr val="EAE8E5"/>
      </a:lt2>
      <a:accent1>
        <a:srgbClr val="CCFF00"/>
      </a:accent1>
      <a:accent2>
        <a:srgbClr val="FF6A00"/>
      </a:accent2>
      <a:accent3>
        <a:srgbClr val="0011A7"/>
      </a:accent3>
      <a:accent4>
        <a:srgbClr val="E10600"/>
      </a:accent4>
      <a:accent5>
        <a:srgbClr val="909194"/>
      </a:accent5>
      <a:accent6>
        <a:srgbClr val="5C5D5F"/>
      </a:accent6>
      <a:hlink>
        <a:srgbClr val="0011A7"/>
      </a:hlink>
      <a:folHlink>
        <a:srgbClr val="5C5D5F"/>
      </a:folHlink>
    </a:clrScheme>
    <a:fontScheme name="HI Grip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HÏ Grip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HÏ Grip — Investment Pitch 2026</dc:title>
  <dc:subject>PptxGenJS Presentation</dc:subject>
  <dc:creator>HÏ Grip</dc:creator>
  <cp:lastModifiedBy>HÏ Grip</cp:lastModifiedBy>
  <cp:revision>1</cp:revision>
  <dcterms:created xsi:type="dcterms:W3CDTF">2026-10-06T12:12:36Z</dcterms:created>
  <dcterms:modified xsi:type="dcterms:W3CDTF">2026-10-06T12:12:36Z</dcterms:modified>
</cp:coreProperties>
</file>